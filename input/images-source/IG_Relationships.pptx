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14747437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D6D6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DDB623-7F17-4FE4-A635-75A91E49F8E6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E5E187-490A-486B-B552-99E02D75D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1715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68803D0-913D-4ECA-929D-F6E53BCE631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86595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388C5-E875-DC4F-BC30-3700BF1970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9110FD-08F0-77DF-9394-DCE24B61F8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392DA8-3273-9F04-272F-5A56AC4E3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5925-C791-49B7-BD5E-F0586C4A3CC7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F7018-376B-4566-7377-249D51D8D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AFC638-C02D-C1BC-779C-84C912817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F510D-59E9-402A-A0E0-9F85493BC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834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73B36-4F76-CFEB-98FE-9C0FB504D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552C64-4703-2BF6-6BFE-BD403CB2EC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C7D06A-6E83-D16F-7C19-49056A64E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5925-C791-49B7-BD5E-F0586C4A3CC7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3EF71-F6FD-50E2-E2A4-FB0B73E03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56F5B2-5EF5-2AE2-67D3-88EA55A57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F510D-59E9-402A-A0E0-9F85493BC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557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5ADF6-F39C-F7E4-7AC6-BFD4E0B3A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DA46E6-7F3E-E1D2-2E9B-8F3531F4E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0F8B0-BEFD-C6B4-F7DC-C8CD390E5A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5925-C791-49B7-BD5E-F0586C4A3CC7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6F24F6-061F-B7C4-A26F-2230FE144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C492C3-0C9C-C706-6357-DF7015245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F510D-59E9-402A-A0E0-9F85493BC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517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B256C-A49E-156F-4CEB-E7D3CA56E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3B0A93-F0A7-3F52-F7F5-ABF1BECDEE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1765B6-3616-18B0-09A1-83684C0EE3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D95AA3-56AF-D67B-4FF0-81BE389E81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5925-C791-49B7-BD5E-F0586C4A3CC7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FE6BED-17E4-D322-7296-8982BCBFA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483F37-B5BF-BD38-B995-FB44BAF1A3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F510D-59E9-402A-A0E0-9F85493BC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176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F71BA-B8EB-E9C1-6DA6-D229241EA6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C5ABFC-623C-A553-91AE-252F13B4AE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39925A-C85A-3D62-BACA-D05907C5CF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7ECB61-1737-C9BC-4EA2-7E234392B2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55516B-0026-FE34-B6CF-37F33D0F31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42B1C4-2DC6-4700-55EB-03FC0FABA0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5925-C791-49B7-BD5E-F0586C4A3CC7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E14473-8E85-51C2-85A4-4E3D44109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CAE25B4-DFE2-EC3D-AF57-7AF73EA97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F510D-59E9-402A-A0E0-9F85493BC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627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3A5BE-A739-412C-2F8F-A9E985E7E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FBC20A-1A2D-B13E-F32B-09B8C2D1F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5925-C791-49B7-BD5E-F0586C4A3CC7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CCD048-5677-9BA4-61A1-444539839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39AE62-D9CD-6EDA-0C65-AC6B3A348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F510D-59E9-402A-A0E0-9F85493BC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101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8ADA6B-669A-48FC-7C6E-95C713189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5925-C791-49B7-BD5E-F0586C4A3CC7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82591D-D579-7C5C-4C65-055DAA257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9F23F6-DA79-5CF6-664F-876A3D019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F510D-59E9-402A-A0E0-9F85493BC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772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C418C-2246-7747-4237-BDEB25F19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A2C821-6327-57D6-5119-FCF4318F6B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9041B8-7C42-3987-CA6B-2FE280BDC7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991CAB-6FEF-A008-B780-B4A86746B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5925-C791-49B7-BD5E-F0586C4A3CC7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49D836-1A3C-A48F-E9C8-F99B7D083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7DE5E7-8013-63E5-E6C6-69667C5AF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F510D-59E9-402A-A0E0-9F85493BC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029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19411-7F16-F96E-9DCD-3F3E6F9FA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C960A4-E414-914F-68E8-9E2DE72FFA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3BFAA0-535F-7F40-6ADA-90A4A58CB8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29A15-EA32-3D13-2646-9B43BD5ECC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5925-C791-49B7-BD5E-F0586C4A3CC7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488F6E-1FEE-E77C-9453-F942E42B1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710532-B2F5-1DA8-B29F-873A2B022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F510D-59E9-402A-A0E0-9F85493BC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76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BAB22-F651-A798-682B-22C09F0AE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D9D51F-3417-8749-A461-F8BEA33766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B304E8-3CA4-FE0E-95A4-6EF0AB70C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5925-C791-49B7-BD5E-F0586C4A3CC7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7A4C27-894F-27CB-2FEE-46CF87D0D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C485A5-83C5-F3E3-922D-94B554297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F510D-59E9-402A-A0E0-9F85493BC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549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C892BF-4664-D65F-0041-51D49CBB79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9082EC-A922-9ADC-F32D-CFD9365230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506950-08D3-F42C-1CC9-5D11A74C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45925-C791-49B7-BD5E-F0586C4A3CC7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D3AAB2-F0AE-08DF-5220-8F0E22DC0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217CDB-7BBD-60D7-07E8-94FDA395A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F510D-59E9-402A-A0E0-9F85493BC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6279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Dat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7"/>
          <p:cNvSpPr>
            <a:spLocks noGrp="1"/>
          </p:cNvSpPr>
          <p:nvPr>
            <p:ph type="body" sz="quarter" idx="10"/>
          </p:nvPr>
        </p:nvSpPr>
        <p:spPr>
          <a:xfrm>
            <a:off x="609600" y="1835572"/>
            <a:ext cx="10972800" cy="4176467"/>
          </a:xfrm>
        </p:spPr>
        <p:txBody>
          <a:bodyPr/>
          <a:lstStyle>
            <a:lvl1pPr marL="304792" indent="-304792">
              <a:lnSpc>
                <a:spcPts val="2933"/>
              </a:lnSpc>
              <a:buClr>
                <a:srgbClr val="003BC0"/>
              </a:buClr>
              <a:buFont typeface="Arial" panose="020B0604020202020204" pitchFamily="34" charset="0"/>
              <a:buChar char="•"/>
              <a:defRPr sz="2667" b="1">
                <a:solidFill>
                  <a:srgbClr val="1D1D1D"/>
                </a:solidFill>
              </a:defRPr>
            </a:lvl1pPr>
            <a:lvl2pPr marL="609585" indent="-226478">
              <a:lnSpc>
                <a:spcPts val="2667"/>
              </a:lnSpc>
              <a:buClr>
                <a:srgbClr val="005761"/>
              </a:buClr>
              <a:buFont typeface="Arial" panose="020B0604020202020204" pitchFamily="34" charset="0"/>
              <a:buChar char="-"/>
              <a:tabLst>
                <a:tab pos="533387" algn="l"/>
              </a:tabLst>
              <a:defRPr sz="2400">
                <a:solidFill>
                  <a:srgbClr val="1D1D1D"/>
                </a:solidFill>
              </a:defRPr>
            </a:lvl2pPr>
            <a:lvl3pPr>
              <a:lnSpc>
                <a:spcPts val="2667"/>
              </a:lnSpc>
              <a:buClr>
                <a:srgbClr val="5A5A5A"/>
              </a:buClr>
              <a:defRPr sz="2667">
                <a:solidFill>
                  <a:srgbClr val="1D1D1D"/>
                </a:solidFill>
              </a:defRPr>
            </a:lvl3pPr>
            <a:lvl4pPr>
              <a:defRPr sz="2667">
                <a:solidFill>
                  <a:srgbClr val="1D1D1D"/>
                </a:solidFill>
              </a:defRPr>
            </a:lvl4pPr>
            <a:lvl5pPr>
              <a:defRPr sz="2667">
                <a:solidFill>
                  <a:srgbClr val="1D1D1D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E7F2F02-184C-4505-8466-02885693F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anchor="b" anchorCtr="0"/>
          <a:lstStyle>
            <a:lvl1pPr algn="l">
              <a:lnSpc>
                <a:spcPts val="4000"/>
              </a:lnSpc>
              <a:defRPr sz="3733" b="1" baseline="0">
                <a:solidFill>
                  <a:srgbClr val="1E5AAA"/>
                </a:solidFill>
                <a:effectLst/>
                <a:latin typeface="Calibri" pitchFamily="34" charset="0"/>
              </a:defRPr>
            </a:lvl1pPr>
          </a:lstStyle>
          <a:p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5710D62-FA23-37E1-D9CA-4E6562C12821}"/>
              </a:ext>
            </a:extLst>
          </p:cNvPr>
          <p:cNvGrpSpPr/>
          <p:nvPr userDrawn="1"/>
        </p:nvGrpSpPr>
        <p:grpSpPr>
          <a:xfrm>
            <a:off x="1" y="6725265"/>
            <a:ext cx="12192001" cy="142567"/>
            <a:chOff x="7355954" y="15880786"/>
            <a:chExt cx="21904846" cy="578414"/>
          </a:xfrm>
        </p:grpSpPr>
        <p:sp>
          <p:nvSpPr>
            <p:cNvPr id="3" name="Rectangle 20">
              <a:extLst>
                <a:ext uri="{FF2B5EF4-FFF2-40B4-BE49-F238E27FC236}">
                  <a16:creationId xmlns:a16="http://schemas.microsoft.com/office/drawing/2014/main" id="{3AD231D8-DCA4-570B-4CC6-32EBF38FADD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flipV="1">
              <a:off x="21984029" y="15880786"/>
              <a:ext cx="2432923" cy="578414"/>
            </a:xfrm>
            <a:prstGeom prst="rect">
              <a:avLst/>
            </a:prstGeom>
            <a:solidFill>
              <a:srgbClr val="194D93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en-US" sz="3333"/>
            </a:p>
          </p:txBody>
        </p:sp>
        <p:sp>
          <p:nvSpPr>
            <p:cNvPr id="4" name="Rectangle 20">
              <a:extLst>
                <a:ext uri="{FF2B5EF4-FFF2-40B4-BE49-F238E27FC236}">
                  <a16:creationId xmlns:a16="http://schemas.microsoft.com/office/drawing/2014/main" id="{32619D13-D1C6-7836-5897-39ABF07B01E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flipV="1">
              <a:off x="24406350" y="15880786"/>
              <a:ext cx="2432923" cy="578414"/>
            </a:xfrm>
            <a:prstGeom prst="rect">
              <a:avLst/>
            </a:prstGeom>
            <a:solidFill>
              <a:srgbClr val="1C56A4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en-US" sz="3333"/>
            </a:p>
          </p:txBody>
        </p:sp>
        <p:sp>
          <p:nvSpPr>
            <p:cNvPr id="6" name="Rectangle 20">
              <a:extLst>
                <a:ext uri="{FF2B5EF4-FFF2-40B4-BE49-F238E27FC236}">
                  <a16:creationId xmlns:a16="http://schemas.microsoft.com/office/drawing/2014/main" id="{392F6D8E-420B-97AC-FD5D-3185F97EC0C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flipV="1">
              <a:off x="26827877" y="15880786"/>
              <a:ext cx="2432923" cy="578414"/>
            </a:xfrm>
            <a:prstGeom prst="rect">
              <a:avLst/>
            </a:prstGeom>
            <a:solidFill>
              <a:srgbClr val="1E5DB2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en-US" sz="3333"/>
            </a:p>
          </p:txBody>
        </p:sp>
        <p:sp>
          <p:nvSpPr>
            <p:cNvPr id="8" name="Rectangle 20">
              <a:extLst>
                <a:ext uri="{FF2B5EF4-FFF2-40B4-BE49-F238E27FC236}">
                  <a16:creationId xmlns:a16="http://schemas.microsoft.com/office/drawing/2014/main" id="{6967D159-E4ED-FA77-F3CA-47CC8A1001C9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 flipV="1">
              <a:off x="7355954" y="15880786"/>
              <a:ext cx="14644447" cy="578414"/>
            </a:xfrm>
            <a:prstGeom prst="rect">
              <a:avLst/>
            </a:prstGeom>
            <a:solidFill>
              <a:srgbClr val="164380"/>
            </a:solidFill>
            <a:ln>
              <a:noFill/>
            </a:ln>
          </p:spPr>
          <p:txBody>
            <a:bodyPr vert="horz" wrap="square" lIns="45720" tIns="22860" rIns="45720" bIns="22860" numCol="1" anchor="t" anchorCtr="0" compatLnSpc="1">
              <a:prstTxWarp prst="textNoShape">
                <a:avLst/>
              </a:prstTxWarp>
            </a:bodyPr>
            <a:lstStyle/>
            <a:p>
              <a:endParaRPr lang="en-US" sz="3333"/>
            </a:p>
          </p:txBody>
        </p:sp>
      </p:grp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5CB155C-F057-A3EB-A9D3-9146EFF62DF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2108FA95-DC17-4E70-AEBD-901685F1C447}" type="datetime1">
              <a:rPr lang="en-US" smtClean="0"/>
              <a:t>10/3/2025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BCCFC70-C7EE-71EF-52F9-198FAFBFA15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3B091C2-167A-1F9F-176A-665AB99E2E3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24973BE-A81E-4D52-B4EA-5B7090548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995519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2BD1F2-7C0B-269A-ECD2-DFC8CD583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AE1888-3B5D-7319-E025-3896B50F49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FC530-F852-FCA8-BA62-C4A1B8C7E1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745925-C791-49B7-BD5E-F0586C4A3CC7}" type="datetimeFigureOut">
              <a:rPr lang="en-US" smtClean="0"/>
              <a:t>10/3/2025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65C801-A0FB-5153-9E36-E6297DA344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A5544F-4B76-D4C6-4280-6BB6101FDB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4F510D-59E9-402A-A0E0-9F85493BC2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990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dc.gov/nhsn/fhirportal/dqm/ig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hl7.org/fhir/us/nhsn-dqm/2024Sep/index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576B7A4-CA3D-7EA5-68F9-73F8FF973322}"/>
              </a:ext>
            </a:extLst>
          </p:cNvPr>
          <p:cNvSpPr/>
          <p:nvPr/>
        </p:nvSpPr>
        <p:spPr>
          <a:xfrm>
            <a:off x="2780201" y="2102349"/>
            <a:ext cx="4149129" cy="1143832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1pPr>
            <a:lvl2pPr marL="60958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2pPr>
            <a:lvl3pPr marL="121917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3pPr>
            <a:lvl4pPr marL="1828754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4pPr>
            <a:lvl5pPr marL="2438339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8AD150-7650-2EC9-0142-7094E0B84103}"/>
              </a:ext>
            </a:extLst>
          </p:cNvPr>
          <p:cNvSpPr/>
          <p:nvPr/>
        </p:nvSpPr>
        <p:spPr>
          <a:xfrm>
            <a:off x="2779453" y="1086957"/>
            <a:ext cx="4142543" cy="1027419"/>
          </a:xfrm>
          <a:prstGeom prst="rect">
            <a:avLst/>
          </a:prstGeom>
          <a:solidFill>
            <a:srgbClr val="0070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1pPr>
            <a:lvl2pPr marL="60958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2pPr>
            <a:lvl3pPr marL="121917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3pPr>
            <a:lvl4pPr marL="1828754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4pPr>
            <a:lvl5pPr marL="2438339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A2CC159B-4716-E203-6B6B-E684D1D93629}"/>
              </a:ext>
            </a:extLst>
          </p:cNvPr>
          <p:cNvSpPr/>
          <p:nvPr/>
        </p:nvSpPr>
        <p:spPr>
          <a:xfrm>
            <a:off x="598031" y="2104416"/>
            <a:ext cx="2060432" cy="1143832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1pPr>
            <a:lvl2pPr marL="60958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2pPr>
            <a:lvl3pPr marL="121917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3pPr>
            <a:lvl4pPr marL="1828754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4pPr>
            <a:lvl5pPr marL="2438339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10E935-E13B-A40C-57AE-50BF7F27C7E9}"/>
              </a:ext>
            </a:extLst>
          </p:cNvPr>
          <p:cNvSpPr/>
          <p:nvPr/>
        </p:nvSpPr>
        <p:spPr>
          <a:xfrm>
            <a:off x="598033" y="1076997"/>
            <a:ext cx="2060433" cy="1027419"/>
          </a:xfrm>
          <a:prstGeom prst="rect">
            <a:avLst/>
          </a:prstGeom>
          <a:solidFill>
            <a:schemeClr val="bg2">
              <a:lumMod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1pPr>
            <a:lvl2pPr marL="60958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2pPr>
            <a:lvl3pPr marL="121917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3pPr>
            <a:lvl4pPr marL="1828754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4pPr>
            <a:lvl5pPr marL="2438339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F37375-9CE1-8146-433B-82938D0448C0}"/>
              </a:ext>
            </a:extLst>
          </p:cNvPr>
          <p:cNvSpPr txBox="1"/>
          <p:nvPr/>
        </p:nvSpPr>
        <p:spPr>
          <a:xfrm>
            <a:off x="644810" y="1213787"/>
            <a:ext cx="198214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1pPr>
            <a:lvl2pPr marL="60958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2pPr>
            <a:lvl3pPr marL="121917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3pPr>
            <a:lvl4pPr marL="1828754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4pPr>
            <a:lvl5pPr marL="2438339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HL7 balloted Framework IGs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4043B001-9C4E-3F9A-49F2-48CFA1532B01}"/>
              </a:ext>
            </a:extLst>
          </p:cNvPr>
          <p:cNvSpPr txBox="1"/>
          <p:nvPr/>
        </p:nvSpPr>
        <p:spPr>
          <a:xfrm>
            <a:off x="730645" y="2156127"/>
            <a:ext cx="1908879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1pPr>
            <a:lvl2pPr marL="60958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2pPr>
            <a:lvl3pPr marL="121917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3pPr>
            <a:lvl4pPr marL="1828754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4pPr>
            <a:lvl5pPr marL="2438339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NHSN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Content Package IGs</a:t>
            </a:r>
          </a:p>
        </p:txBody>
      </p:sp>
      <p:sp>
        <p:nvSpPr>
          <p:cNvPr id="132" name="Rectangle: Top Corners Rounded 131">
            <a:extLst>
              <a:ext uri="{FF2B5EF4-FFF2-40B4-BE49-F238E27FC236}">
                <a16:creationId xmlns:a16="http://schemas.microsoft.com/office/drawing/2014/main" id="{EE6A3262-9AF2-EAE4-E7A0-612DD1091492}"/>
              </a:ext>
            </a:extLst>
          </p:cNvPr>
          <p:cNvSpPr/>
          <p:nvPr/>
        </p:nvSpPr>
        <p:spPr>
          <a:xfrm>
            <a:off x="2990556" y="2235661"/>
            <a:ext cx="3822555" cy="1320095"/>
          </a:xfrm>
          <a:prstGeom prst="round2SameRect">
            <a:avLst/>
          </a:prstGeom>
          <a:solidFill>
            <a:schemeClr val="accent6">
              <a:lumMod val="75000"/>
            </a:schemeClr>
          </a:solidFill>
          <a:ln w="15875">
            <a:solidFill>
              <a:srgbClr val="DFEAF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45720" rtlCol="0" anchor="t" anchorCtr="0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1pPr>
            <a:lvl2pPr marL="60958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2pPr>
            <a:lvl3pPr marL="121917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3pPr>
            <a:lvl4pPr marL="1828754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4pPr>
            <a:lvl5pPr marL="2438339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888978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  <a:r>
              <a:rPr kumimoji="0" lang="en-US" sz="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 </a:t>
            </a:r>
            <a:b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CDC NHSN dQM IG</a:t>
            </a:r>
          </a:p>
        </p:txBody>
      </p:sp>
      <p:grpSp>
        <p:nvGrpSpPr>
          <p:cNvPr id="157" name="Group 156">
            <a:extLst>
              <a:ext uri="{FF2B5EF4-FFF2-40B4-BE49-F238E27FC236}">
                <a16:creationId xmlns:a16="http://schemas.microsoft.com/office/drawing/2014/main" id="{230B5C4F-26AF-7F47-2ED0-1B140507F9A0}"/>
              </a:ext>
            </a:extLst>
          </p:cNvPr>
          <p:cNvGrpSpPr/>
          <p:nvPr/>
        </p:nvGrpSpPr>
        <p:grpSpPr>
          <a:xfrm>
            <a:off x="482861" y="1126978"/>
            <a:ext cx="0" cy="4544244"/>
            <a:chOff x="420153" y="1126977"/>
            <a:chExt cx="0" cy="4544244"/>
          </a:xfrm>
        </p:grpSpPr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E86E8CA6-4BE6-9BB5-B1F8-B2103B633EB1}"/>
                </a:ext>
              </a:extLst>
            </p:cNvPr>
            <p:cNvCxnSpPr>
              <a:cxnSpLocks/>
            </p:cNvCxnSpPr>
            <p:nvPr/>
          </p:nvCxnSpPr>
          <p:spPr>
            <a:xfrm>
              <a:off x="420153" y="1126977"/>
              <a:ext cx="0" cy="999580"/>
            </a:xfrm>
            <a:prstGeom prst="line">
              <a:avLst/>
            </a:prstGeom>
            <a:ln w="44450" cap="rnd">
              <a:solidFill>
                <a:srgbClr val="404040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E84312B7-8BEE-67F0-21B7-3D1AD90829EB}"/>
                </a:ext>
              </a:extLst>
            </p:cNvPr>
            <p:cNvCxnSpPr>
              <a:cxnSpLocks/>
            </p:cNvCxnSpPr>
            <p:nvPr/>
          </p:nvCxnSpPr>
          <p:spPr>
            <a:xfrm>
              <a:off x="420153" y="2104415"/>
              <a:ext cx="0" cy="1139593"/>
            </a:xfrm>
            <a:prstGeom prst="line">
              <a:avLst/>
            </a:prstGeom>
            <a:ln w="44450" cap="rnd">
              <a:solidFill>
                <a:srgbClr val="7C7C7C"/>
              </a:solidFill>
              <a:headEnd type="oval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DCA2FFDC-57A5-1E47-D02D-CDCC0FD8123E}"/>
                </a:ext>
              </a:extLst>
            </p:cNvPr>
            <p:cNvCxnSpPr>
              <a:cxnSpLocks/>
            </p:cNvCxnSpPr>
            <p:nvPr/>
          </p:nvCxnSpPr>
          <p:spPr>
            <a:xfrm>
              <a:off x="420153" y="3244008"/>
              <a:ext cx="0" cy="2427213"/>
            </a:xfrm>
            <a:prstGeom prst="line">
              <a:avLst/>
            </a:prstGeom>
            <a:ln w="44450" cap="rnd">
              <a:solidFill>
                <a:srgbClr val="D9D9D9"/>
              </a:solidFill>
              <a:headEnd type="oval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FDCB3FD-D50B-00DD-027B-BC8A1B404611}"/>
              </a:ext>
            </a:extLst>
          </p:cNvPr>
          <p:cNvSpPr/>
          <p:nvPr/>
        </p:nvSpPr>
        <p:spPr>
          <a:xfrm>
            <a:off x="3180695" y="1250301"/>
            <a:ext cx="3348139" cy="737267"/>
          </a:xfrm>
          <a:custGeom>
            <a:avLst/>
            <a:gdLst>
              <a:gd name="connsiteX0" fmla="*/ 0 w 1337326"/>
              <a:gd name="connsiteY0" fmla="*/ 0 h 668663"/>
              <a:gd name="connsiteX1" fmla="*/ 1337326 w 1337326"/>
              <a:gd name="connsiteY1" fmla="*/ 0 h 668663"/>
              <a:gd name="connsiteX2" fmla="*/ 1337326 w 1337326"/>
              <a:gd name="connsiteY2" fmla="*/ 668663 h 668663"/>
              <a:gd name="connsiteX3" fmla="*/ 0 w 1337326"/>
              <a:gd name="connsiteY3" fmla="*/ 668663 h 668663"/>
              <a:gd name="connsiteX4" fmla="*/ 0 w 1337326"/>
              <a:gd name="connsiteY4" fmla="*/ 0 h 668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7326" h="668663">
                <a:moveTo>
                  <a:pt x="0" y="0"/>
                </a:moveTo>
                <a:lnTo>
                  <a:pt x="1337326" y="0"/>
                </a:lnTo>
                <a:lnTo>
                  <a:pt x="1337326" y="668663"/>
                </a:lnTo>
                <a:lnTo>
                  <a:pt x="0" y="668663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700" tIns="12700" rIns="12700" bIns="12700" numCol="1" spcCol="1270" anchor="ctr" anchorCtr="0">
            <a:no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1pPr>
            <a:lvl2pPr marL="60958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2pPr>
            <a:lvl3pPr marL="121917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3pPr>
            <a:lvl4pPr marL="1828754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4pPr>
            <a:lvl5pPr marL="2438339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888978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HL7 NHSN dQM Reporting IG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21902DF5-6609-4BE4-1F10-1A4C52CD5B4B}"/>
              </a:ext>
            </a:extLst>
          </p:cNvPr>
          <p:cNvSpPr/>
          <p:nvPr/>
        </p:nvSpPr>
        <p:spPr>
          <a:xfrm>
            <a:off x="3128460" y="2675270"/>
            <a:ext cx="1812881" cy="1296773"/>
          </a:xfrm>
          <a:custGeom>
            <a:avLst/>
            <a:gdLst>
              <a:gd name="connsiteX0" fmla="*/ 0 w 1337326"/>
              <a:gd name="connsiteY0" fmla="*/ 0 h 668663"/>
              <a:gd name="connsiteX1" fmla="*/ 1337326 w 1337326"/>
              <a:gd name="connsiteY1" fmla="*/ 0 h 668663"/>
              <a:gd name="connsiteX2" fmla="*/ 1337326 w 1337326"/>
              <a:gd name="connsiteY2" fmla="*/ 668663 h 668663"/>
              <a:gd name="connsiteX3" fmla="*/ 0 w 1337326"/>
              <a:gd name="connsiteY3" fmla="*/ 668663 h 668663"/>
              <a:gd name="connsiteX4" fmla="*/ 0 w 1337326"/>
              <a:gd name="connsiteY4" fmla="*/ 0 h 668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7326" h="668663">
                <a:moveTo>
                  <a:pt x="0" y="0"/>
                </a:moveTo>
                <a:lnTo>
                  <a:pt x="1337326" y="0"/>
                </a:lnTo>
                <a:lnTo>
                  <a:pt x="1337326" y="668663"/>
                </a:lnTo>
                <a:lnTo>
                  <a:pt x="0" y="668663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rgbClr val="DFEAF9"/>
            </a:solidFill>
            <a:prstDash val="sysDot"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700" tIns="109728" rIns="12700" bIns="12700" numCol="1" spcCol="1270" anchor="t" anchorCtr="0">
            <a:no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1pPr>
            <a:lvl2pPr marL="60958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2pPr>
            <a:lvl3pPr marL="121917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3pPr>
            <a:lvl4pPr marL="1828754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4pPr>
            <a:lvl5pPr marL="2438339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888978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ACH Monthly Profiles &amp; CQL</a:t>
            </a:r>
          </a:p>
        </p:txBody>
      </p:sp>
      <p:sp>
        <p:nvSpPr>
          <p:cNvPr id="94" name="Rectangle 93">
            <a:extLst>
              <a:ext uri="{FF2B5EF4-FFF2-40B4-BE49-F238E27FC236}">
                <a16:creationId xmlns:a16="http://schemas.microsoft.com/office/drawing/2014/main" id="{EB95D546-AE8E-AEEA-7812-D2667EDD00FC}"/>
              </a:ext>
            </a:extLst>
          </p:cNvPr>
          <p:cNvSpPr/>
          <p:nvPr/>
        </p:nvSpPr>
        <p:spPr>
          <a:xfrm>
            <a:off x="598031" y="3234695"/>
            <a:ext cx="2060431" cy="2485709"/>
          </a:xfrm>
          <a:prstGeom prst="rect">
            <a:avLst/>
          </a:prstGeom>
          <a:solidFill>
            <a:srgbClr val="D6D6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1pPr>
            <a:lvl2pPr marL="60958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2pPr>
            <a:lvl3pPr marL="121917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3pPr>
            <a:lvl4pPr marL="1828754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4pPr>
            <a:lvl5pPr marL="2438339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5D80ABEA-1DAF-4A49-B2F5-9A789C099163}"/>
              </a:ext>
            </a:extLst>
          </p:cNvPr>
          <p:cNvSpPr txBox="1"/>
          <p:nvPr/>
        </p:nvSpPr>
        <p:spPr>
          <a:xfrm>
            <a:off x="646358" y="3584321"/>
            <a:ext cx="1951999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1pPr>
            <a:lvl2pPr marL="60958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2pPr>
            <a:lvl3pPr marL="121917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3pPr>
            <a:lvl4pPr marL="1828754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4pPr>
            <a:lvl5pPr marL="2438339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NHSN Protocols and metrics</a:t>
            </a:r>
          </a:p>
        </p:txBody>
      </p: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E1CFAEAE-1400-ED18-B512-4FE07CF8AD86}"/>
              </a:ext>
            </a:extLst>
          </p:cNvPr>
          <p:cNvCxnSpPr/>
          <p:nvPr/>
        </p:nvCxnSpPr>
        <p:spPr>
          <a:xfrm>
            <a:off x="6977056" y="1076997"/>
            <a:ext cx="0" cy="4947291"/>
          </a:xfrm>
          <a:prstGeom prst="line">
            <a:avLst/>
          </a:prstGeom>
          <a:ln w="1270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F8209C2F-FFA8-4091-43BD-2740C45E98B7}"/>
              </a:ext>
            </a:extLst>
          </p:cNvPr>
          <p:cNvCxnSpPr/>
          <p:nvPr/>
        </p:nvCxnSpPr>
        <p:spPr>
          <a:xfrm>
            <a:off x="2713524" y="930959"/>
            <a:ext cx="0" cy="4947291"/>
          </a:xfrm>
          <a:prstGeom prst="line">
            <a:avLst/>
          </a:prstGeom>
          <a:ln w="1270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AA37DDE3-F07F-1978-709A-FDF70D2F4F73}"/>
              </a:ext>
            </a:extLst>
          </p:cNvPr>
          <p:cNvSpPr/>
          <p:nvPr/>
        </p:nvSpPr>
        <p:spPr>
          <a:xfrm>
            <a:off x="5071541" y="2675271"/>
            <a:ext cx="1620820" cy="1300780"/>
          </a:xfrm>
          <a:custGeom>
            <a:avLst/>
            <a:gdLst>
              <a:gd name="connsiteX0" fmla="*/ 0 w 1337326"/>
              <a:gd name="connsiteY0" fmla="*/ 0 h 668663"/>
              <a:gd name="connsiteX1" fmla="*/ 1337326 w 1337326"/>
              <a:gd name="connsiteY1" fmla="*/ 0 h 668663"/>
              <a:gd name="connsiteX2" fmla="*/ 1337326 w 1337326"/>
              <a:gd name="connsiteY2" fmla="*/ 668663 h 668663"/>
              <a:gd name="connsiteX3" fmla="*/ 0 w 1337326"/>
              <a:gd name="connsiteY3" fmla="*/ 668663 h 668663"/>
              <a:gd name="connsiteX4" fmla="*/ 0 w 1337326"/>
              <a:gd name="connsiteY4" fmla="*/ 0 h 668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7326" h="668663">
                <a:moveTo>
                  <a:pt x="0" y="0"/>
                </a:moveTo>
                <a:lnTo>
                  <a:pt x="1337326" y="0"/>
                </a:lnTo>
                <a:lnTo>
                  <a:pt x="1337326" y="668663"/>
                </a:lnTo>
                <a:lnTo>
                  <a:pt x="0" y="668663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rgbClr val="DFEAF9"/>
            </a:solidFill>
            <a:prstDash val="sysDot"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700" tIns="109728" rIns="12700" bIns="12700" numCol="1" spcCol="1270" anchor="t" anchorCtr="0">
            <a:no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1pPr>
            <a:lvl2pPr marL="60958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2pPr>
            <a:lvl3pPr marL="121917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3pPr>
            <a:lvl4pPr marL="1828754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4pPr>
            <a:lvl5pPr marL="2438339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888978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ACH Daily Profiles &amp; CQL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36D02DE2-375B-7444-A7C4-44F3FD8BC879}"/>
              </a:ext>
            </a:extLst>
          </p:cNvPr>
          <p:cNvSpPr/>
          <p:nvPr/>
        </p:nvSpPr>
        <p:spPr>
          <a:xfrm>
            <a:off x="3254752" y="5722356"/>
            <a:ext cx="3178795" cy="737267"/>
          </a:xfrm>
          <a:custGeom>
            <a:avLst/>
            <a:gdLst>
              <a:gd name="connsiteX0" fmla="*/ 0 w 1337326"/>
              <a:gd name="connsiteY0" fmla="*/ 0 h 668663"/>
              <a:gd name="connsiteX1" fmla="*/ 1337326 w 1337326"/>
              <a:gd name="connsiteY1" fmla="*/ 0 h 668663"/>
              <a:gd name="connsiteX2" fmla="*/ 1337326 w 1337326"/>
              <a:gd name="connsiteY2" fmla="*/ 668663 h 668663"/>
              <a:gd name="connsiteX3" fmla="*/ 0 w 1337326"/>
              <a:gd name="connsiteY3" fmla="*/ 668663 h 668663"/>
              <a:gd name="connsiteX4" fmla="*/ 0 w 1337326"/>
              <a:gd name="connsiteY4" fmla="*/ 0 h 668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7326" h="668663">
                <a:moveTo>
                  <a:pt x="0" y="0"/>
                </a:moveTo>
                <a:lnTo>
                  <a:pt x="1337326" y="0"/>
                </a:lnTo>
                <a:lnTo>
                  <a:pt x="1337326" y="668663"/>
                </a:lnTo>
                <a:lnTo>
                  <a:pt x="0" y="668663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700" tIns="12700" rIns="12700" bIns="12700" numCol="1" spcCol="1270" anchor="ctr" anchorCtr="0">
            <a:no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1pPr>
            <a:lvl2pPr marL="60958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2pPr>
            <a:lvl3pPr marL="121917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3pPr>
            <a:lvl4pPr marL="1828754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4pPr>
            <a:lvl5pPr marL="2438339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888978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Patient-level Data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E136B56-7556-0422-F1F2-2511711C6AE1}"/>
              </a:ext>
            </a:extLst>
          </p:cNvPr>
          <p:cNvSpPr/>
          <p:nvPr/>
        </p:nvSpPr>
        <p:spPr>
          <a:xfrm>
            <a:off x="2796783" y="3230422"/>
            <a:ext cx="4103125" cy="2485709"/>
          </a:xfrm>
          <a:prstGeom prst="rect">
            <a:avLst/>
          </a:prstGeom>
          <a:solidFill>
            <a:srgbClr val="B7FFD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1pPr>
            <a:lvl2pPr marL="60958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2pPr>
            <a:lvl3pPr marL="121917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3pPr>
            <a:lvl4pPr marL="1828754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4pPr>
            <a:lvl5pPr marL="2438339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85" name="Freeform: Shape 84">
            <a:extLst>
              <a:ext uri="{FF2B5EF4-FFF2-40B4-BE49-F238E27FC236}">
                <a16:creationId xmlns:a16="http://schemas.microsoft.com/office/drawing/2014/main" id="{C35F0AE6-9522-9ACD-4D38-2418A2375A5D}"/>
              </a:ext>
            </a:extLst>
          </p:cNvPr>
          <p:cNvSpPr/>
          <p:nvPr/>
        </p:nvSpPr>
        <p:spPr>
          <a:xfrm>
            <a:off x="3862805" y="4639686"/>
            <a:ext cx="1191703" cy="298737"/>
          </a:xfrm>
          <a:custGeom>
            <a:avLst/>
            <a:gdLst>
              <a:gd name="connsiteX0" fmla="*/ 0 w 1337326"/>
              <a:gd name="connsiteY0" fmla="*/ 0 h 668663"/>
              <a:gd name="connsiteX1" fmla="*/ 1337326 w 1337326"/>
              <a:gd name="connsiteY1" fmla="*/ 0 h 668663"/>
              <a:gd name="connsiteX2" fmla="*/ 1337326 w 1337326"/>
              <a:gd name="connsiteY2" fmla="*/ 668663 h 668663"/>
              <a:gd name="connsiteX3" fmla="*/ 0 w 1337326"/>
              <a:gd name="connsiteY3" fmla="*/ 668663 h 668663"/>
              <a:gd name="connsiteX4" fmla="*/ 0 w 1337326"/>
              <a:gd name="connsiteY4" fmla="*/ 0 h 668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7326" h="668663">
                <a:moveTo>
                  <a:pt x="0" y="0"/>
                </a:moveTo>
                <a:lnTo>
                  <a:pt x="1337326" y="0"/>
                </a:lnTo>
                <a:lnTo>
                  <a:pt x="1337326" y="668663"/>
                </a:lnTo>
                <a:lnTo>
                  <a:pt x="0" y="668663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700" tIns="12700" rIns="12700" bIns="12700" numCol="1" spcCol="1270" anchor="ctr" anchorCtr="0">
            <a:no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1pPr>
            <a:lvl2pPr marL="60958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2pPr>
            <a:lvl3pPr marL="121917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3pPr>
            <a:lvl4pPr marL="1828754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4pPr>
            <a:lvl5pPr marL="2438339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888978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7033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Bacteremia &amp; Fungemia</a:t>
            </a:r>
          </a:p>
          <a:p>
            <a:pPr marL="0" marR="0" lvl="0" indent="0" algn="l" defTabSz="888978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007033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CB52405D-2887-0659-3B34-0EFBEDD3D9D8}"/>
              </a:ext>
            </a:extLst>
          </p:cNvPr>
          <p:cNvSpPr/>
          <p:nvPr/>
        </p:nvSpPr>
        <p:spPr>
          <a:xfrm>
            <a:off x="3858094" y="5290748"/>
            <a:ext cx="1151007" cy="354441"/>
          </a:xfrm>
          <a:custGeom>
            <a:avLst/>
            <a:gdLst>
              <a:gd name="connsiteX0" fmla="*/ 0 w 1337326"/>
              <a:gd name="connsiteY0" fmla="*/ 0 h 668663"/>
              <a:gd name="connsiteX1" fmla="*/ 1337326 w 1337326"/>
              <a:gd name="connsiteY1" fmla="*/ 0 h 668663"/>
              <a:gd name="connsiteX2" fmla="*/ 1337326 w 1337326"/>
              <a:gd name="connsiteY2" fmla="*/ 668663 h 668663"/>
              <a:gd name="connsiteX3" fmla="*/ 0 w 1337326"/>
              <a:gd name="connsiteY3" fmla="*/ 668663 h 668663"/>
              <a:gd name="connsiteX4" fmla="*/ 0 w 1337326"/>
              <a:gd name="connsiteY4" fmla="*/ 0 h 668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7326" h="668663">
                <a:moveTo>
                  <a:pt x="0" y="0"/>
                </a:moveTo>
                <a:lnTo>
                  <a:pt x="1337326" y="0"/>
                </a:lnTo>
                <a:lnTo>
                  <a:pt x="1337326" y="668663"/>
                </a:lnTo>
                <a:lnTo>
                  <a:pt x="0" y="668663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700" tIns="12700" rIns="12700" bIns="12700" numCol="1" spcCol="1270" anchor="ctr" anchorCtr="0">
            <a:no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1pPr>
            <a:lvl2pPr marL="60958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2pPr>
            <a:lvl3pPr marL="121917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3pPr>
            <a:lvl4pPr marL="1828754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4pPr>
            <a:lvl5pPr marL="2438339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888978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1" u="none" strike="noStrike" kern="1200" cap="none" spc="0" normalizeH="0" baseline="0" noProof="0">
                <a:ln>
                  <a:noFill/>
                </a:ln>
                <a:solidFill>
                  <a:srgbClr val="007033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C. difficile </a:t>
            </a: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7033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Infection</a:t>
            </a:r>
          </a:p>
          <a:p>
            <a:pPr marL="0" marR="0" lvl="0" indent="0" algn="l" defTabSz="888978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007033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+mn-cs"/>
            </a:endParaRPr>
          </a:p>
        </p:txBody>
      </p:sp>
      <p:sp>
        <p:nvSpPr>
          <p:cNvPr id="87" name="Freeform: Shape 86">
            <a:extLst>
              <a:ext uri="{FF2B5EF4-FFF2-40B4-BE49-F238E27FC236}">
                <a16:creationId xmlns:a16="http://schemas.microsoft.com/office/drawing/2014/main" id="{67B14C59-B27A-4BF5-0585-2A3F39FF08E6}"/>
              </a:ext>
            </a:extLst>
          </p:cNvPr>
          <p:cNvSpPr/>
          <p:nvPr/>
        </p:nvSpPr>
        <p:spPr>
          <a:xfrm>
            <a:off x="3849123" y="3326626"/>
            <a:ext cx="995027" cy="561492"/>
          </a:xfrm>
          <a:custGeom>
            <a:avLst/>
            <a:gdLst>
              <a:gd name="connsiteX0" fmla="*/ 0 w 1337326"/>
              <a:gd name="connsiteY0" fmla="*/ 0 h 668663"/>
              <a:gd name="connsiteX1" fmla="*/ 1337326 w 1337326"/>
              <a:gd name="connsiteY1" fmla="*/ 0 h 668663"/>
              <a:gd name="connsiteX2" fmla="*/ 1337326 w 1337326"/>
              <a:gd name="connsiteY2" fmla="*/ 668663 h 668663"/>
              <a:gd name="connsiteX3" fmla="*/ 0 w 1337326"/>
              <a:gd name="connsiteY3" fmla="*/ 668663 h 668663"/>
              <a:gd name="connsiteX4" fmla="*/ 0 w 1337326"/>
              <a:gd name="connsiteY4" fmla="*/ 0 h 668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7326" h="668663">
                <a:moveTo>
                  <a:pt x="0" y="0"/>
                </a:moveTo>
                <a:lnTo>
                  <a:pt x="1337326" y="0"/>
                </a:lnTo>
                <a:lnTo>
                  <a:pt x="1337326" y="668663"/>
                </a:lnTo>
                <a:lnTo>
                  <a:pt x="0" y="668663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700" tIns="12700" rIns="12700" bIns="12700" numCol="1" spcCol="1270" anchor="ctr" anchorCtr="0">
            <a:no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1pPr>
            <a:lvl2pPr marL="60958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2pPr>
            <a:lvl3pPr marL="121917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3pPr>
            <a:lvl4pPr marL="1828754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4pPr>
            <a:lvl5pPr marL="2438339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888978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7033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Glycemic Control</a:t>
            </a:r>
          </a:p>
        </p:txBody>
      </p:sp>
      <p:sp>
        <p:nvSpPr>
          <p:cNvPr id="88" name="Freeform: Shape 87">
            <a:extLst>
              <a:ext uri="{FF2B5EF4-FFF2-40B4-BE49-F238E27FC236}">
                <a16:creationId xmlns:a16="http://schemas.microsoft.com/office/drawing/2014/main" id="{233FF268-9A8B-A96D-858E-941346C453C5}"/>
              </a:ext>
            </a:extLst>
          </p:cNvPr>
          <p:cNvSpPr/>
          <p:nvPr/>
        </p:nvSpPr>
        <p:spPr>
          <a:xfrm>
            <a:off x="3885663" y="3925041"/>
            <a:ext cx="827667" cy="354441"/>
          </a:xfrm>
          <a:custGeom>
            <a:avLst/>
            <a:gdLst>
              <a:gd name="connsiteX0" fmla="*/ 0 w 1337326"/>
              <a:gd name="connsiteY0" fmla="*/ 0 h 668663"/>
              <a:gd name="connsiteX1" fmla="*/ 1337326 w 1337326"/>
              <a:gd name="connsiteY1" fmla="*/ 0 h 668663"/>
              <a:gd name="connsiteX2" fmla="*/ 1337326 w 1337326"/>
              <a:gd name="connsiteY2" fmla="*/ 668663 h 668663"/>
              <a:gd name="connsiteX3" fmla="*/ 0 w 1337326"/>
              <a:gd name="connsiteY3" fmla="*/ 668663 h 668663"/>
              <a:gd name="connsiteX4" fmla="*/ 0 w 1337326"/>
              <a:gd name="connsiteY4" fmla="*/ 0 h 668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7326" h="668663">
                <a:moveTo>
                  <a:pt x="0" y="0"/>
                </a:moveTo>
                <a:lnTo>
                  <a:pt x="1337326" y="0"/>
                </a:lnTo>
                <a:lnTo>
                  <a:pt x="1337326" y="668663"/>
                </a:lnTo>
                <a:lnTo>
                  <a:pt x="0" y="668663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700" tIns="12700" rIns="12700" bIns="12700" numCol="1" spcCol="1270" anchor="ctr" anchorCtr="0">
            <a:no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1pPr>
            <a:lvl2pPr marL="60958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2pPr>
            <a:lvl3pPr marL="121917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3pPr>
            <a:lvl4pPr marL="1828754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4pPr>
            <a:lvl5pPr marL="2438339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888978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7033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Adult Sepsis</a:t>
            </a:r>
          </a:p>
        </p:txBody>
      </p: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3AD7C804-5679-59D2-86BF-87105AA0E200}"/>
              </a:ext>
            </a:extLst>
          </p:cNvPr>
          <p:cNvCxnSpPr>
            <a:cxnSpLocks/>
          </p:cNvCxnSpPr>
          <p:nvPr/>
        </p:nvCxnSpPr>
        <p:spPr>
          <a:xfrm flipV="1">
            <a:off x="3372820" y="3235254"/>
            <a:ext cx="0" cy="2083367"/>
          </a:xfrm>
          <a:prstGeom prst="line">
            <a:avLst/>
          </a:prstGeom>
          <a:ln w="22225">
            <a:solidFill>
              <a:srgbClr val="0070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>
            <a:extLst>
              <a:ext uri="{FF2B5EF4-FFF2-40B4-BE49-F238E27FC236}">
                <a16:creationId xmlns:a16="http://schemas.microsoft.com/office/drawing/2014/main" id="{B399AB10-A12C-C818-A2E7-A8FEDFAE2C7A}"/>
              </a:ext>
            </a:extLst>
          </p:cNvPr>
          <p:cNvCxnSpPr/>
          <p:nvPr/>
        </p:nvCxnSpPr>
        <p:spPr>
          <a:xfrm>
            <a:off x="3383547" y="3568291"/>
            <a:ext cx="428992" cy="0"/>
          </a:xfrm>
          <a:prstGeom prst="line">
            <a:avLst/>
          </a:prstGeom>
          <a:ln w="22225">
            <a:solidFill>
              <a:srgbClr val="0070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B4828A9B-5BEB-0A7E-05E0-175108434938}"/>
              </a:ext>
            </a:extLst>
          </p:cNvPr>
          <p:cNvCxnSpPr/>
          <p:nvPr/>
        </p:nvCxnSpPr>
        <p:spPr>
          <a:xfrm>
            <a:off x="3383547" y="4079551"/>
            <a:ext cx="428992" cy="0"/>
          </a:xfrm>
          <a:prstGeom prst="line">
            <a:avLst/>
          </a:prstGeom>
          <a:ln w="22225">
            <a:solidFill>
              <a:srgbClr val="0070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Connector 124">
            <a:extLst>
              <a:ext uri="{FF2B5EF4-FFF2-40B4-BE49-F238E27FC236}">
                <a16:creationId xmlns:a16="http://schemas.microsoft.com/office/drawing/2014/main" id="{2C3F1D20-DABE-D274-E410-789BC4EE81A3}"/>
              </a:ext>
            </a:extLst>
          </p:cNvPr>
          <p:cNvCxnSpPr/>
          <p:nvPr/>
        </p:nvCxnSpPr>
        <p:spPr>
          <a:xfrm>
            <a:off x="3383547" y="4658735"/>
            <a:ext cx="428992" cy="0"/>
          </a:xfrm>
          <a:prstGeom prst="line">
            <a:avLst/>
          </a:prstGeom>
          <a:ln w="22225">
            <a:solidFill>
              <a:srgbClr val="0070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CF66600F-259E-3932-E311-291450178119}"/>
              </a:ext>
            </a:extLst>
          </p:cNvPr>
          <p:cNvCxnSpPr>
            <a:cxnSpLocks/>
          </p:cNvCxnSpPr>
          <p:nvPr/>
        </p:nvCxnSpPr>
        <p:spPr>
          <a:xfrm>
            <a:off x="3361952" y="5313003"/>
            <a:ext cx="450587" cy="0"/>
          </a:xfrm>
          <a:prstGeom prst="line">
            <a:avLst/>
          </a:prstGeom>
          <a:ln w="22225">
            <a:solidFill>
              <a:srgbClr val="0070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Freeform: Shape 126">
            <a:extLst>
              <a:ext uri="{FF2B5EF4-FFF2-40B4-BE49-F238E27FC236}">
                <a16:creationId xmlns:a16="http://schemas.microsoft.com/office/drawing/2014/main" id="{5A791069-F2FA-9D93-C10F-58289695623C}"/>
              </a:ext>
            </a:extLst>
          </p:cNvPr>
          <p:cNvSpPr/>
          <p:nvPr/>
        </p:nvSpPr>
        <p:spPr>
          <a:xfrm>
            <a:off x="5806084" y="3366109"/>
            <a:ext cx="709581" cy="354441"/>
          </a:xfrm>
          <a:custGeom>
            <a:avLst/>
            <a:gdLst>
              <a:gd name="connsiteX0" fmla="*/ 0 w 1337326"/>
              <a:gd name="connsiteY0" fmla="*/ 0 h 668663"/>
              <a:gd name="connsiteX1" fmla="*/ 1337326 w 1337326"/>
              <a:gd name="connsiteY1" fmla="*/ 0 h 668663"/>
              <a:gd name="connsiteX2" fmla="*/ 1337326 w 1337326"/>
              <a:gd name="connsiteY2" fmla="*/ 668663 h 668663"/>
              <a:gd name="connsiteX3" fmla="*/ 0 w 1337326"/>
              <a:gd name="connsiteY3" fmla="*/ 668663 h 668663"/>
              <a:gd name="connsiteX4" fmla="*/ 0 w 1337326"/>
              <a:gd name="connsiteY4" fmla="*/ 0 h 668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7326" h="668663">
                <a:moveTo>
                  <a:pt x="0" y="0"/>
                </a:moveTo>
                <a:lnTo>
                  <a:pt x="1337326" y="0"/>
                </a:lnTo>
                <a:lnTo>
                  <a:pt x="1337326" y="668663"/>
                </a:lnTo>
                <a:lnTo>
                  <a:pt x="0" y="668663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700" tIns="12700" rIns="12700" bIns="12700" numCol="1" spcCol="1270" anchor="ctr" anchorCtr="0">
            <a:no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1pPr>
            <a:lvl2pPr marL="60958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2pPr>
            <a:lvl3pPr marL="121917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3pPr>
            <a:lvl4pPr marL="1828754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4pPr>
            <a:lvl5pPr marL="2438339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9pPr>
          </a:lstStyle>
          <a:p>
            <a:pPr marL="0" marR="0" lvl="0" indent="0" algn="l" defTabSz="888978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007033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RPS</a:t>
            </a:r>
          </a:p>
        </p:txBody>
      </p:sp>
      <p:cxnSp>
        <p:nvCxnSpPr>
          <p:cNvPr id="128" name="Straight Connector 127">
            <a:extLst>
              <a:ext uri="{FF2B5EF4-FFF2-40B4-BE49-F238E27FC236}">
                <a16:creationId xmlns:a16="http://schemas.microsoft.com/office/drawing/2014/main" id="{3D4118A8-1918-8E7F-F199-38C673A2A07C}"/>
              </a:ext>
            </a:extLst>
          </p:cNvPr>
          <p:cNvCxnSpPr>
            <a:cxnSpLocks/>
          </p:cNvCxnSpPr>
          <p:nvPr/>
        </p:nvCxnSpPr>
        <p:spPr>
          <a:xfrm flipV="1">
            <a:off x="5433624" y="3244780"/>
            <a:ext cx="0" cy="322309"/>
          </a:xfrm>
          <a:prstGeom prst="line">
            <a:avLst/>
          </a:prstGeom>
          <a:ln w="22225">
            <a:solidFill>
              <a:srgbClr val="0070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4D341274-B5F8-3016-3A39-B9A0AB4705C5}"/>
              </a:ext>
            </a:extLst>
          </p:cNvPr>
          <p:cNvCxnSpPr>
            <a:cxnSpLocks/>
          </p:cNvCxnSpPr>
          <p:nvPr/>
        </p:nvCxnSpPr>
        <p:spPr>
          <a:xfrm>
            <a:off x="5433624" y="3558784"/>
            <a:ext cx="285728" cy="0"/>
          </a:xfrm>
          <a:prstGeom prst="line">
            <a:avLst/>
          </a:prstGeom>
          <a:ln w="22225">
            <a:solidFill>
              <a:srgbClr val="00703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2B8248F-B4E6-B91E-AB22-054528B679E8}"/>
              </a:ext>
            </a:extLst>
          </p:cNvPr>
          <p:cNvSpPr/>
          <p:nvPr/>
        </p:nvSpPr>
        <p:spPr>
          <a:xfrm>
            <a:off x="3167527" y="295445"/>
            <a:ext cx="3178795" cy="737267"/>
          </a:xfrm>
          <a:custGeom>
            <a:avLst/>
            <a:gdLst>
              <a:gd name="connsiteX0" fmla="*/ 0 w 1337326"/>
              <a:gd name="connsiteY0" fmla="*/ 0 h 668663"/>
              <a:gd name="connsiteX1" fmla="*/ 1337326 w 1337326"/>
              <a:gd name="connsiteY1" fmla="*/ 0 h 668663"/>
              <a:gd name="connsiteX2" fmla="*/ 1337326 w 1337326"/>
              <a:gd name="connsiteY2" fmla="*/ 668663 h 668663"/>
              <a:gd name="connsiteX3" fmla="*/ 0 w 1337326"/>
              <a:gd name="connsiteY3" fmla="*/ 668663 h 668663"/>
              <a:gd name="connsiteX4" fmla="*/ 0 w 1337326"/>
              <a:gd name="connsiteY4" fmla="*/ 0 h 668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337326" h="668663">
                <a:moveTo>
                  <a:pt x="0" y="0"/>
                </a:moveTo>
                <a:lnTo>
                  <a:pt x="1337326" y="0"/>
                </a:lnTo>
                <a:lnTo>
                  <a:pt x="1337326" y="668663"/>
                </a:lnTo>
                <a:lnTo>
                  <a:pt x="0" y="668663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2700" tIns="12700" rIns="12700" bIns="12700" numCol="1" spcCol="1270" anchor="ctr" anchorCtr="0">
            <a:noAutofit/>
          </a:bodyPr>
          <a:lstStyle>
            <a:defPPr>
              <a:defRPr lang="en-US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1pPr>
            <a:lvl2pPr marL="609585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2pPr>
            <a:lvl3pPr marL="121917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3pPr>
            <a:lvl4pPr marL="1828754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4pPr>
            <a:lvl5pPr marL="2438339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kern="1200">
                <a:solidFill>
                  <a:schemeClr val="tx1"/>
                </a:solidFill>
                <a:latin typeface="Myriad Web Pro" panose="020B0503030403020204" pitchFamily="34" charset="0"/>
                <a:ea typeface="+mn-ea"/>
                <a:cs typeface="+mn-cs"/>
              </a:defRPr>
            </a:lvl9pPr>
          </a:lstStyle>
          <a:p>
            <a:pPr marL="0" marR="0" lvl="0" indent="0" algn="ctr" defTabSz="888978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Surveillance and Quality Measurement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8EBC60-0309-F3D4-9CC6-2E7771E5033A}"/>
              </a:ext>
            </a:extLst>
          </p:cNvPr>
          <p:cNvSpPr txBox="1"/>
          <p:nvPr/>
        </p:nvSpPr>
        <p:spPr>
          <a:xfrm>
            <a:off x="7604097" y="5948851"/>
            <a:ext cx="4053038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3"/>
              </a:rPr>
              <a:t>www.cdc.gov/nhsn/fhirportal/dqm/ig/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hl7.org/</a:t>
            </a:r>
            <a:r>
              <a:rPr lang="en-US" sz="11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fhir</a:t>
            </a: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/us/</a:t>
            </a:r>
            <a:r>
              <a:rPr lang="en-US" sz="1100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nhsn-dqm</a:t>
            </a:r>
            <a:r>
              <a:rPr lang="en-US" sz="11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4"/>
              </a:rPr>
              <a:t>/2024Sep</a:t>
            </a:r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sz="11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11863195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Links xmlns="f7a0e18c-cfc5-49dd-848c-c545c4347a8b" xsi:nil="true"/>
    <lcf76f155ced4ddcb4097134ff3c332f xmlns="f7a0e18c-cfc5-49dd-848c-c545c4347a8b">
      <Terms xmlns="http://schemas.microsoft.com/office/infopath/2007/PartnerControls"/>
    </lcf76f155ced4ddcb4097134ff3c332f>
    <_ip_UnifiedCompliancePolicyProperties xmlns="http://schemas.microsoft.com/sharepoint/v3" xsi:nil="true"/>
    <Info xmlns="f7a0e18c-cfc5-49dd-848c-c545c4347a8b" xsi:nil="true"/>
    <TaxCatchAll xmlns="9ed5a28f-e285-4793-933e-f86572ea3e88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E6232238523F149A25EBADFEA2BD408" ma:contentTypeVersion="21" ma:contentTypeDescription="Create a new document." ma:contentTypeScope="" ma:versionID="098ec21decabb4e73b8e24749541d0c0">
  <xsd:schema xmlns:xsd="http://www.w3.org/2001/XMLSchema" xmlns:xs="http://www.w3.org/2001/XMLSchema" xmlns:p="http://schemas.microsoft.com/office/2006/metadata/properties" xmlns:ns1="http://schemas.microsoft.com/sharepoint/v3" xmlns:ns2="f7a0e18c-cfc5-49dd-848c-c545c4347a8b" xmlns:ns3="9ed5a28f-e285-4793-933e-f86572ea3e88" targetNamespace="http://schemas.microsoft.com/office/2006/metadata/properties" ma:root="true" ma:fieldsID="452e8e41b0659c9cc0bccf7f1f5d580a" ns1:_="" ns2:_="" ns3:_="">
    <xsd:import namespace="http://schemas.microsoft.com/sharepoint/v3"/>
    <xsd:import namespace="f7a0e18c-cfc5-49dd-848c-c545c4347a8b"/>
    <xsd:import namespace="9ed5a28f-e285-4793-933e-f86572ea3e88"/>
    <xsd:element name="properties">
      <xsd:complexType>
        <xsd:sequence>
          <xsd:element name="documentManagement">
            <xsd:complexType>
              <xsd:all>
                <xsd:element ref="ns2:Info" minOccurs="0"/>
                <xsd:element ref="ns2:Links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  <xsd:element ref="ns1:_ip_UnifiedCompliancePolicyProperties" minOccurs="0"/>
                <xsd:element ref="ns1:_ip_UnifiedCompliancePolicyUIAc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4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5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a0e18c-cfc5-49dd-848c-c545c4347a8b" elementFormDefault="qualified">
    <xsd:import namespace="http://schemas.microsoft.com/office/2006/documentManagement/types"/>
    <xsd:import namespace="http://schemas.microsoft.com/office/infopath/2007/PartnerControls"/>
    <xsd:element name="Info" ma:index="3" nillable="true" ma:displayName="Info" ma:format="Dropdown" ma:internalName="Info" ma:readOnly="false">
      <xsd:simpleType>
        <xsd:restriction base="dms:Text">
          <xsd:maxLength value="255"/>
        </xsd:restriction>
      </xsd:simpleType>
    </xsd:element>
    <xsd:element name="Links" ma:index="4" nillable="true" ma:displayName="Links" ma:format="Dropdown" ma:internalName="Links" ma:readOnly="false">
      <xsd:simpleType>
        <xsd:restriction base="dms:Note">
          <xsd:maxLength value="255"/>
        </xsd:restriction>
      </xsd:simple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51e966ca-5672-46ee-972e-cf8e61d1e4a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hidden="true" ma:internalName="MediaServiceOCR" ma:readOnly="true">
      <xsd:simpleType>
        <xsd:restriction base="dms:Note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0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d5a28f-e285-4793-933e-f86572ea3e8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2b8430a-dc37-4799-b8d6-a24c35180534}" ma:internalName="TaxCatchAll" ma:readOnly="false" ma:showField="CatchAllData" ma:web="9ed5a28f-e285-4793-933e-f86572ea3e8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hidden="true" ma:internalName="SharedWithDetail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400179D-311E-4397-9680-F5E569DC2444}">
  <ds:schemaRefs>
    <ds:schemaRef ds:uri="http://schemas.microsoft.com/sharepoint/v3"/>
    <ds:schemaRef ds:uri="http://www.w3.org/XML/1998/namespace"/>
    <ds:schemaRef ds:uri="http://schemas.microsoft.com/office/2006/documentManagement/types"/>
    <ds:schemaRef ds:uri="f7a0e18c-cfc5-49dd-848c-c545c4347a8b"/>
    <ds:schemaRef ds:uri="9ed5a28f-e285-4793-933e-f86572ea3e88"/>
    <ds:schemaRef ds:uri="http://purl.org/dc/elements/1.1/"/>
    <ds:schemaRef ds:uri="http://purl.org/dc/terms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54910204-8AFC-4467-A57B-DD6FF5E88A3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f7a0e18c-cfc5-49dd-848c-c545c4347a8b"/>
    <ds:schemaRef ds:uri="9ed5a28f-e285-4793-933e-f86572ea3e8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5127D2C-5FD4-4D97-885B-5C09E941059F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77</Words>
  <Application>Microsoft Office PowerPoint</Application>
  <PresentationFormat>Widescreen</PresentationFormat>
  <Paragraphs>18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Amrit Kerr</dc:creator>
  <cp:lastModifiedBy>Corey Spears</cp:lastModifiedBy>
  <cp:revision>3</cp:revision>
  <dcterms:created xsi:type="dcterms:W3CDTF">2025-09-16T19:00:30Z</dcterms:created>
  <dcterms:modified xsi:type="dcterms:W3CDTF">2025-10-04T05:48:06Z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0x010100CE6232238523F149A25EBADFEA2BD408</vt:lpwstr>
  </property>
</Properties>
</file>