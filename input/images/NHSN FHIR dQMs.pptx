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147474245" r:id="rId2"/>
    <p:sldId id="214747422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65905-9148-41E3-9BA4-B70590F9E2C6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7BF75-3BEB-4E25-9F27-8D88C509B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3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ntanagroup.sharepoint.com/:u:/s/projects/client/CDC_GSA_NHSN_ATS_Support_BY/Ed7eAZHb3MdOs4HVVLawTCEBtjshK5jkjvXDR_FfMv05hQ?e=p1JdCX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38CAEC-4554-485B-9189-C45C7447A4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13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Source document: </a:t>
            </a:r>
            <a:r>
              <a:rPr lang="en-US" sz="1600" dirty="0">
                <a:hlinkClick r:id="rId3"/>
              </a:rPr>
              <a:t>NHSNLink Data Flow Simple_2.2024.vsdx</a:t>
            </a:r>
            <a:endParaRPr lang="en-US" sz="16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38CAEC-4554-485B-9189-C45C7447A40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83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D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3A17BC3-1F5B-28A0-7789-0DA0C7A50D7D}"/>
              </a:ext>
            </a:extLst>
          </p:cNvPr>
          <p:cNvGrpSpPr/>
          <p:nvPr userDrawn="1"/>
        </p:nvGrpSpPr>
        <p:grpSpPr>
          <a:xfrm>
            <a:off x="0" y="5699139"/>
            <a:ext cx="12192000" cy="1158861"/>
            <a:chOff x="0" y="4274354"/>
            <a:chExt cx="9144000" cy="8691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31CF5A-461C-2AF2-2E63-53A651F732BA}"/>
                </a:ext>
              </a:extLst>
            </p:cNvPr>
            <p:cNvSpPr/>
            <p:nvPr userDrawn="1"/>
          </p:nvSpPr>
          <p:spPr>
            <a:xfrm>
              <a:off x="0" y="4274354"/>
              <a:ext cx="9144000" cy="869146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8A96CBD-9BC4-3F48-F0A5-DB94DE1071B8}"/>
                </a:ext>
              </a:extLst>
            </p:cNvPr>
            <p:cNvGrpSpPr/>
            <p:nvPr userDrawn="1"/>
          </p:nvGrpSpPr>
          <p:grpSpPr>
            <a:xfrm>
              <a:off x="553" y="4274861"/>
              <a:ext cx="5172541" cy="868639"/>
              <a:chOff x="1771" y="389"/>
              <a:chExt cx="14161532" cy="664930"/>
            </a:xfrm>
          </p:grpSpPr>
          <p:sp>
            <p:nvSpPr>
              <p:cNvPr id="18" name="Parallelogram 9">
                <a:extLst>
                  <a:ext uri="{FF2B5EF4-FFF2-40B4-BE49-F238E27FC236}">
                    <a16:creationId xmlns:a16="http://schemas.microsoft.com/office/drawing/2014/main" id="{1DF45998-B7ED-3B13-D19D-C839BC93162C}"/>
                  </a:ext>
                </a:extLst>
              </p:cNvPr>
              <p:cNvSpPr/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2C94CA9D-1D40-AB06-E28C-01B79FC23B99}"/>
                  </a:ext>
                </a:extLst>
              </p:cNvPr>
              <p:cNvSpPr/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2E700AAC-8ED5-0BD9-0D59-78D98E213E6D}"/>
                  </a:ext>
                </a:extLst>
              </p:cNvPr>
              <p:cNvSpPr/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21" name="Parallelogram 20">
                <a:extLst>
                  <a:ext uri="{FF2B5EF4-FFF2-40B4-BE49-F238E27FC236}">
                    <a16:creationId xmlns:a16="http://schemas.microsoft.com/office/drawing/2014/main" id="{524E04CF-F3D6-66B2-FB7C-10C171C17462}"/>
                  </a:ext>
                </a:extLst>
              </p:cNvPr>
              <p:cNvSpPr/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</p:grpSp>
      </p:grpSp>
      <p:sp>
        <p:nvSpPr>
          <p:cNvPr id="3" name="TextBox 2"/>
          <p:cNvSpPr txBox="1"/>
          <p:nvPr userDrawn="1"/>
        </p:nvSpPr>
        <p:spPr>
          <a:xfrm>
            <a:off x="169624" y="3662433"/>
            <a:ext cx="10125843" cy="1846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For more information, contact CDC</a:t>
            </a: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1-800-CDC-INFO (232-4636)</a:t>
            </a: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TTY:  1-888-232-6348    www.cdc.gov</a:t>
            </a: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b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</a:br>
            <a:r>
              <a:rPr lang="en-US" sz="1600">
                <a:solidFill>
                  <a:srgbClr val="0057B7"/>
                </a:solidFill>
                <a:latin typeface="Calibri" panose="020F0502020204030204" pitchFamily="34" charset="0"/>
              </a:rPr>
              <a:t>The findings and conclusions in this report are those of the authors and do not necessarily represent the official position of the Centers for Disease Control and Prevention.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1AAE42-4A62-8308-16A3-AF933411C0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69624" y="366185"/>
            <a:ext cx="11049000" cy="1325033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0057B7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D1AA84B-8C3A-1268-123B-0BD4559B2F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6" t="47892" r="12803" b="15738"/>
          <a:stretch/>
        </p:blipFill>
        <p:spPr>
          <a:xfrm>
            <a:off x="10872613" y="5903191"/>
            <a:ext cx="1117600" cy="7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4984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1835572"/>
            <a:ext cx="10972800" cy="4176467"/>
          </a:xfrm>
        </p:spPr>
        <p:txBody>
          <a:bodyPr/>
          <a:lstStyle>
            <a:lvl1pPr marL="304792" indent="-304792">
              <a:lnSpc>
                <a:spcPts val="2933"/>
              </a:lnSpc>
              <a:buClr>
                <a:srgbClr val="003BC0"/>
              </a:buClr>
              <a:buFont typeface="Arial" panose="020B0604020202020204" pitchFamily="34" charset="0"/>
              <a:buChar char="•"/>
              <a:defRPr sz="2667" b="1">
                <a:solidFill>
                  <a:srgbClr val="1D1D1D"/>
                </a:solidFill>
              </a:defRPr>
            </a:lvl1pPr>
            <a:lvl2pPr marL="609585" indent="-226478">
              <a:lnSpc>
                <a:spcPts val="2667"/>
              </a:lnSpc>
              <a:buClr>
                <a:srgbClr val="005761"/>
              </a:buClr>
              <a:buFont typeface="Arial" panose="020B0604020202020204" pitchFamily="34" charset="0"/>
              <a:buChar char="-"/>
              <a:tabLst>
                <a:tab pos="533387" algn="l"/>
              </a:tabLst>
              <a:defRPr sz="2400">
                <a:solidFill>
                  <a:srgbClr val="1D1D1D"/>
                </a:solidFill>
              </a:defRPr>
            </a:lvl2pPr>
            <a:lvl3pPr>
              <a:lnSpc>
                <a:spcPts val="2667"/>
              </a:lnSpc>
              <a:buClr>
                <a:srgbClr val="5A5A5A"/>
              </a:buClr>
              <a:defRPr sz="2667">
                <a:solidFill>
                  <a:srgbClr val="1D1D1D"/>
                </a:solidFill>
              </a:defRPr>
            </a:lvl3pPr>
            <a:lvl4pPr>
              <a:defRPr sz="2667">
                <a:solidFill>
                  <a:srgbClr val="1D1D1D"/>
                </a:solidFill>
              </a:defRPr>
            </a:lvl4pPr>
            <a:lvl5pPr>
              <a:defRPr sz="26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7F2F02-184C-4505-8466-02885693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000"/>
              </a:lnSpc>
              <a:defRPr sz="3733" b="1" baseline="0">
                <a:solidFill>
                  <a:srgbClr val="1E5AAA"/>
                </a:solidFill>
                <a:effectLst/>
                <a:latin typeface="Calibri" pitchFamily="34" charset="0"/>
              </a:defRPr>
            </a:lvl1pPr>
          </a:lstStyle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710D62-FA23-37E1-D9CA-4E6562C12821}"/>
              </a:ext>
            </a:extLst>
          </p:cNvPr>
          <p:cNvGrpSpPr/>
          <p:nvPr userDrawn="1"/>
        </p:nvGrpSpPr>
        <p:grpSpPr>
          <a:xfrm>
            <a:off x="1" y="6725265"/>
            <a:ext cx="12192001" cy="142567"/>
            <a:chOff x="7355954" y="15880786"/>
            <a:chExt cx="21904846" cy="578414"/>
          </a:xfrm>
        </p:grpSpPr>
        <p:sp>
          <p:nvSpPr>
            <p:cNvPr id="3" name="Rectangle 20">
              <a:extLst>
                <a:ext uri="{FF2B5EF4-FFF2-40B4-BE49-F238E27FC236}">
                  <a16:creationId xmlns:a16="http://schemas.microsoft.com/office/drawing/2014/main" id="{3AD231D8-DCA4-570B-4CC6-32EBF38FAD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1984029" y="15880786"/>
              <a:ext cx="2432923" cy="578414"/>
            </a:xfrm>
            <a:prstGeom prst="rect">
              <a:avLst/>
            </a:prstGeom>
            <a:solidFill>
              <a:srgbClr val="194D9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4" name="Rectangle 20">
              <a:extLst>
                <a:ext uri="{FF2B5EF4-FFF2-40B4-BE49-F238E27FC236}">
                  <a16:creationId xmlns:a16="http://schemas.microsoft.com/office/drawing/2014/main" id="{32619D13-D1C6-7836-5897-39ABF07B01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4406350" y="15880786"/>
              <a:ext cx="2432923" cy="578414"/>
            </a:xfrm>
            <a:prstGeom prst="rect">
              <a:avLst/>
            </a:prstGeom>
            <a:solidFill>
              <a:srgbClr val="1C56A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6" name="Rectangle 20">
              <a:extLst>
                <a:ext uri="{FF2B5EF4-FFF2-40B4-BE49-F238E27FC236}">
                  <a16:creationId xmlns:a16="http://schemas.microsoft.com/office/drawing/2014/main" id="{392F6D8E-420B-97AC-FD5D-3185F97EC0C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6827877" y="15880786"/>
              <a:ext cx="2432923" cy="578414"/>
            </a:xfrm>
            <a:prstGeom prst="rect">
              <a:avLst/>
            </a:prstGeom>
            <a:solidFill>
              <a:srgbClr val="1E5DB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6967D159-E4ED-FA77-F3CA-47CC8A1001C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7355954" y="15880786"/>
              <a:ext cx="14644447" cy="578414"/>
            </a:xfrm>
            <a:prstGeom prst="rect">
              <a:avLst/>
            </a:prstGeom>
            <a:solidFill>
              <a:srgbClr val="16438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</p:grpSp>
    </p:spTree>
    <p:extLst>
      <p:ext uri="{BB962C8B-B14F-4D97-AF65-F5344CB8AC3E}">
        <p14:creationId xmlns:p14="http://schemas.microsoft.com/office/powerpoint/2010/main" val="29071343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_CDC_with_tagli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267F8213-0BF4-9CFD-184D-957DBD90BEF9}"/>
              </a:ext>
            </a:extLst>
          </p:cNvPr>
          <p:cNvGrpSpPr/>
          <p:nvPr userDrawn="1"/>
        </p:nvGrpSpPr>
        <p:grpSpPr>
          <a:xfrm>
            <a:off x="0" y="0"/>
            <a:ext cx="12192000" cy="1158861"/>
            <a:chOff x="0" y="1079970"/>
            <a:chExt cx="7112000" cy="22443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E8587A6-7C1A-EC72-C16A-98204569B39A}"/>
                </a:ext>
              </a:extLst>
            </p:cNvPr>
            <p:cNvSpPr/>
            <p:nvPr userDrawn="1"/>
          </p:nvSpPr>
          <p:spPr>
            <a:xfrm>
              <a:off x="0" y="1079970"/>
              <a:ext cx="7112000" cy="224308"/>
            </a:xfrm>
            <a:prstGeom prst="rect">
              <a:avLst/>
            </a:prstGeom>
            <a:solidFill>
              <a:srgbClr val="0057B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749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EB7A224-4867-EA38-EAA4-ECD97FF9203A}"/>
                </a:ext>
              </a:extLst>
            </p:cNvPr>
            <p:cNvGrpSpPr/>
            <p:nvPr userDrawn="1"/>
          </p:nvGrpSpPr>
          <p:grpSpPr>
            <a:xfrm>
              <a:off x="430" y="1080101"/>
              <a:ext cx="5345267" cy="224308"/>
              <a:chOff x="1771" y="389"/>
              <a:chExt cx="18815689" cy="664930"/>
            </a:xfrm>
          </p:grpSpPr>
          <p:sp>
            <p:nvSpPr>
              <p:cNvPr id="44" name="Parallelogram 9">
                <a:extLst>
                  <a:ext uri="{FF2B5EF4-FFF2-40B4-BE49-F238E27FC236}">
                    <a16:creationId xmlns:a16="http://schemas.microsoft.com/office/drawing/2014/main" id="{EA18C2A9-CD91-4656-D4FD-18B4B82E4B80}"/>
                  </a:ext>
                </a:extLst>
              </p:cNvPr>
              <p:cNvSpPr/>
              <p:nvPr userDrawn="1"/>
            </p:nvSpPr>
            <p:spPr>
              <a:xfrm>
                <a:off x="1771" y="389"/>
                <a:ext cx="2010345" cy="664930"/>
              </a:xfrm>
              <a:custGeom>
                <a:avLst/>
                <a:gdLst>
                  <a:gd name="connsiteX0" fmla="*/ 0 w 2399861"/>
                  <a:gd name="connsiteY0" fmla="*/ 668592 h 668592"/>
                  <a:gd name="connsiteX1" fmla="*/ 167148 w 2399861"/>
                  <a:gd name="connsiteY1" fmla="*/ 0 h 668592"/>
                  <a:gd name="connsiteX2" fmla="*/ 2399861 w 2399861"/>
                  <a:gd name="connsiteY2" fmla="*/ 0 h 668592"/>
                  <a:gd name="connsiteX3" fmla="*/ 2232713 w 2399861"/>
                  <a:gd name="connsiteY3" fmla="*/ 668592 h 668592"/>
                  <a:gd name="connsiteX4" fmla="*/ 0 w 2399861"/>
                  <a:gd name="connsiteY4" fmla="*/ 668592 h 668592"/>
                  <a:gd name="connsiteX0" fmla="*/ 0 w 2261638"/>
                  <a:gd name="connsiteY0" fmla="*/ 668592 h 668592"/>
                  <a:gd name="connsiteX1" fmla="*/ 28925 w 2261638"/>
                  <a:gd name="connsiteY1" fmla="*/ 0 h 668592"/>
                  <a:gd name="connsiteX2" fmla="*/ 2261638 w 2261638"/>
                  <a:gd name="connsiteY2" fmla="*/ 0 h 668592"/>
                  <a:gd name="connsiteX3" fmla="*/ 2094490 w 2261638"/>
                  <a:gd name="connsiteY3" fmla="*/ 668592 h 668592"/>
                  <a:gd name="connsiteX4" fmla="*/ 0 w 2261638"/>
                  <a:gd name="connsiteY4" fmla="*/ 668592 h 668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61638" h="668592">
                    <a:moveTo>
                      <a:pt x="0" y="668592"/>
                    </a:moveTo>
                    <a:lnTo>
                      <a:pt x="28925" y="0"/>
                    </a:lnTo>
                    <a:lnTo>
                      <a:pt x="2261638" y="0"/>
                    </a:lnTo>
                    <a:lnTo>
                      <a:pt x="2094490" y="668592"/>
                    </a:lnTo>
                    <a:lnTo>
                      <a:pt x="0" y="668592"/>
                    </a:lnTo>
                    <a:close/>
                  </a:path>
                </a:pathLst>
              </a:custGeom>
              <a:solidFill>
                <a:srgbClr val="1643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5" name="Parallelogram 44">
                <a:extLst>
                  <a:ext uri="{FF2B5EF4-FFF2-40B4-BE49-F238E27FC236}">
                    <a16:creationId xmlns:a16="http://schemas.microsoft.com/office/drawing/2014/main" id="{AE0A8C09-00C3-D95E-B5DA-0F0A402DC7AB}"/>
                  </a:ext>
                </a:extLst>
              </p:cNvPr>
              <p:cNvSpPr/>
              <p:nvPr userDrawn="1"/>
            </p:nvSpPr>
            <p:spPr>
              <a:xfrm>
                <a:off x="1267572" y="389"/>
                <a:ext cx="3829094" cy="664930"/>
              </a:xfrm>
              <a:prstGeom prst="parallelogram">
                <a:avLst/>
              </a:prstGeom>
              <a:solidFill>
                <a:srgbClr val="194D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6" name="Parallelogram 45">
                <a:extLst>
                  <a:ext uri="{FF2B5EF4-FFF2-40B4-BE49-F238E27FC236}">
                    <a16:creationId xmlns:a16="http://schemas.microsoft.com/office/drawing/2014/main" id="{B944134F-25AD-BEB2-C0BF-43DF4B11FC3F}"/>
                  </a:ext>
                </a:extLst>
              </p:cNvPr>
              <p:cNvSpPr/>
              <p:nvPr userDrawn="1"/>
            </p:nvSpPr>
            <p:spPr>
              <a:xfrm>
                <a:off x="4209773" y="389"/>
                <a:ext cx="4996928" cy="664930"/>
              </a:xfrm>
              <a:prstGeom prst="parallelogram">
                <a:avLst/>
              </a:prstGeom>
              <a:solidFill>
                <a:srgbClr val="1C56A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7" name="Parallelogram 46">
                <a:extLst>
                  <a:ext uri="{FF2B5EF4-FFF2-40B4-BE49-F238E27FC236}">
                    <a16:creationId xmlns:a16="http://schemas.microsoft.com/office/drawing/2014/main" id="{A01506F6-4045-30A7-1967-7A2272067890}"/>
                  </a:ext>
                </a:extLst>
              </p:cNvPr>
              <p:cNvSpPr/>
              <p:nvPr userDrawn="1"/>
            </p:nvSpPr>
            <p:spPr>
              <a:xfrm>
                <a:off x="8136570" y="389"/>
                <a:ext cx="6026733" cy="664930"/>
              </a:xfrm>
              <a:prstGeom prst="parallelogram">
                <a:avLst/>
              </a:prstGeom>
              <a:solidFill>
                <a:srgbClr val="1E5D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  <p:sp>
            <p:nvSpPr>
              <p:cNvPr id="48" name="Parallelogram 47">
                <a:extLst>
                  <a:ext uri="{FF2B5EF4-FFF2-40B4-BE49-F238E27FC236}">
                    <a16:creationId xmlns:a16="http://schemas.microsoft.com/office/drawing/2014/main" id="{E1EB0327-76CF-A70A-BE29-7C1C2819C1B3}"/>
                  </a:ext>
                </a:extLst>
              </p:cNvPr>
              <p:cNvSpPr/>
              <p:nvPr userDrawn="1"/>
            </p:nvSpPr>
            <p:spPr>
              <a:xfrm>
                <a:off x="15172395" y="389"/>
                <a:ext cx="3645065" cy="664930"/>
              </a:xfrm>
              <a:prstGeom prst="parallelogram">
                <a:avLst/>
              </a:prstGeom>
              <a:solidFill>
                <a:srgbClr val="0057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749"/>
              </a:p>
            </p:txBody>
          </p:sp>
        </p:grpSp>
      </p:grpSp>
      <p:sp>
        <p:nvSpPr>
          <p:cNvPr id="7" name="Title 1"/>
          <p:cNvSpPr>
            <a:spLocks noGrp="1"/>
          </p:cNvSpPr>
          <p:nvPr userDrawn="1">
            <p:ph type="title"/>
          </p:nvPr>
        </p:nvSpPr>
        <p:spPr>
          <a:xfrm>
            <a:off x="609600" y="1184275"/>
            <a:ext cx="10972800" cy="116936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ubtitle 2"/>
          <p:cNvSpPr>
            <a:spLocks noGrp="1"/>
          </p:cNvSpPr>
          <p:nvPr userDrawn="1">
            <p:ph type="subTitle" idx="1"/>
          </p:nvPr>
        </p:nvSpPr>
        <p:spPr>
          <a:xfrm>
            <a:off x="609600" y="2859349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b="1" baseline="0">
                <a:solidFill>
                  <a:srgbClr val="0057B7"/>
                </a:solidFill>
                <a:effectLst/>
                <a:latin typeface="Calibri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/>
          </a:p>
        </p:txBody>
      </p:sp>
      <p:sp>
        <p:nvSpPr>
          <p:cNvPr id="10" name="Text Placeholder 8"/>
          <p:cNvSpPr>
            <a:spLocks noGrp="1"/>
          </p:cNvSpPr>
          <p:nvPr userDrawn="1">
            <p:ph type="body" sz="quarter" idx="10"/>
          </p:nvPr>
        </p:nvSpPr>
        <p:spPr>
          <a:xfrm>
            <a:off x="609600" y="3946019"/>
            <a:ext cx="8534400" cy="1295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67"/>
              </a:lnSpc>
              <a:buNone/>
              <a:defRPr sz="2400" baseline="0">
                <a:solidFill>
                  <a:srgbClr val="1D1D1D"/>
                </a:solidFill>
                <a:latin typeface="Calibri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617DD9D-7533-7A57-89FB-4D057BCEAC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72533"/>
            <a:ext cx="9211733" cy="54186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Place center name here</a:t>
            </a:r>
          </a:p>
        </p:txBody>
      </p:sp>
      <p:pic>
        <p:nvPicPr>
          <p:cNvPr id="19" name="Picture 1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73EE938-470B-9DA7-FFED-E3CE4A1A3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06" t="47892" r="12803" b="15738"/>
          <a:stretch/>
        </p:blipFill>
        <p:spPr>
          <a:xfrm>
            <a:off x="10872041" y="216207"/>
            <a:ext cx="1117600" cy="72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445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794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yriad Web Pro" panose="020B0503030403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•"/>
        <a:defRPr sz="32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3A1"/>
        </a:buClr>
        <a:buFont typeface="Arial" panose="020B0604020202020204" pitchFamily="34" charset="0"/>
        <a:buChar char="–"/>
        <a:defRPr sz="28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EC7F1A-FAFF-4281-83BE-139B2508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74639"/>
            <a:ext cx="11174963" cy="750293"/>
          </a:xfrm>
        </p:spPr>
        <p:txBody>
          <a:bodyPr lIns="91440" tIns="45720" rIns="91440" bIns="45720" anchor="b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92592"/>
              </a:lnSpc>
            </a:pPr>
            <a:r>
              <a:rPr lang="en-US" sz="3600" dirty="0">
                <a:solidFill>
                  <a:srgbClr val="1E5AA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NHSN FHIR dQMs: Process Flow from EHR to NHSN</a:t>
            </a:r>
            <a:endParaRPr lang="en-US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4500C96D-71E3-68F8-967F-46B8095C52B1}"/>
              </a:ext>
            </a:extLst>
          </p:cNvPr>
          <p:cNvSpPr/>
          <p:nvPr/>
        </p:nvSpPr>
        <p:spPr>
          <a:xfrm>
            <a:off x="4586056" y="2056998"/>
            <a:ext cx="3273552" cy="2953512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F56DC"/>
              </a:solidFill>
              <a:effectLst/>
              <a:uLnTx/>
              <a:uFillTx/>
              <a:latin typeface="Myriad Web Pro"/>
              <a:ea typeface="+mn-ea"/>
              <a:cs typeface="+mn-cs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A777A82F-1951-FD50-5A93-0CC61CB3B30C}"/>
              </a:ext>
            </a:extLst>
          </p:cNvPr>
          <p:cNvSpPr/>
          <p:nvPr/>
        </p:nvSpPr>
        <p:spPr>
          <a:xfrm>
            <a:off x="717324" y="4315198"/>
            <a:ext cx="2368837" cy="1556285"/>
          </a:xfrm>
          <a:prstGeom prst="flowChartAlternate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yriad Web Pro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6" name="Group 5" descr="Diagram of NHSN FHIR dQM process flow.&#10;&#10;There are three boxes: Facility, NHSNLink, and NHSN. A double-headed arrow points back and forth between Facility and NHSNLink. A single-headed arrow points from NHSNLink to NHSN.">
            <a:extLst>
              <a:ext uri="{FF2B5EF4-FFF2-40B4-BE49-F238E27FC236}">
                <a16:creationId xmlns:a16="http://schemas.microsoft.com/office/drawing/2014/main" id="{96929CE4-A93A-1410-646D-7BBA03A9E4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31397" y="2056998"/>
            <a:ext cx="12129205" cy="3152086"/>
            <a:chOff x="60155" y="1333542"/>
            <a:chExt cx="12363599" cy="3152086"/>
          </a:xfrm>
        </p:grpSpPr>
        <p:sp>
          <p:nvSpPr>
            <p:cNvPr id="10" name="Flowchart: Alternate Process 9">
              <a:extLst>
                <a:ext uri="{FF2B5EF4-FFF2-40B4-BE49-F238E27FC236}">
                  <a16:creationId xmlns:a16="http://schemas.microsoft.com/office/drawing/2014/main" id="{E0C89906-1049-B5C5-826F-82BDB400B066}"/>
                </a:ext>
              </a:extLst>
            </p:cNvPr>
            <p:cNvSpPr/>
            <p:nvPr/>
          </p:nvSpPr>
          <p:spPr>
            <a:xfrm>
              <a:off x="9091484" y="1333542"/>
              <a:ext cx="3332270" cy="2954909"/>
            </a:xfrm>
            <a:prstGeom prst="flowChartAlternateProcess">
              <a:avLst/>
            </a:prstGeom>
            <a:solidFill>
              <a:schemeClr val="tx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F56DC"/>
                </a:solidFill>
                <a:effectLst/>
                <a:uLnTx/>
                <a:uFillTx/>
                <a:latin typeface="Myriad Web Pro"/>
                <a:ea typeface="+mn-ea"/>
                <a:cs typeface="+mn-cs"/>
              </a:endParaRPr>
            </a:p>
          </p:txBody>
        </p:sp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7A4067D3-A61D-A4F4-F557-7B5213021820}"/>
                </a:ext>
              </a:extLst>
            </p:cNvPr>
            <p:cNvSpPr/>
            <p:nvPr/>
          </p:nvSpPr>
          <p:spPr>
            <a:xfrm>
              <a:off x="60155" y="1355612"/>
              <a:ext cx="3336812" cy="2953512"/>
            </a:xfrm>
            <a:prstGeom prst="flowChartAlternateProcess">
              <a:avLst/>
            </a:prstGeom>
            <a:solidFill>
              <a:schemeClr val="accent6">
                <a:lumMod val="10000"/>
                <a:lumOff val="9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F56DC"/>
                </a:solidFill>
                <a:effectLst/>
                <a:uLnTx/>
                <a:uFillTx/>
                <a:latin typeface="Myriad Web Pro"/>
                <a:ea typeface="+mn-ea"/>
                <a:cs typeface="+mn-cs"/>
              </a:endParaRPr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8E1669F1-644F-26AF-84B3-1910C7040A5E}"/>
                </a:ext>
              </a:extLst>
            </p:cNvPr>
            <p:cNvSpPr/>
            <p:nvPr/>
          </p:nvSpPr>
          <p:spPr>
            <a:xfrm>
              <a:off x="1502113" y="1925244"/>
              <a:ext cx="1661128" cy="1909792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F56DC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NHSNLink identifies patients of interest from EHR*</a:t>
              </a:r>
            </a:p>
          </p:txBody>
        </p:sp>
        <p:sp>
          <p:nvSpPr>
            <p:cNvPr id="13" name="Flowchart: Alternate Process 12">
              <a:extLst>
                <a:ext uri="{FF2B5EF4-FFF2-40B4-BE49-F238E27FC236}">
                  <a16:creationId xmlns:a16="http://schemas.microsoft.com/office/drawing/2014/main" id="{959607CA-3EBF-73F7-6F9B-4822033745B8}"/>
                </a:ext>
              </a:extLst>
            </p:cNvPr>
            <p:cNvSpPr/>
            <p:nvPr/>
          </p:nvSpPr>
          <p:spPr>
            <a:xfrm>
              <a:off x="4899322" y="2122962"/>
              <a:ext cx="2970098" cy="1950265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NHSNLink q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ueries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EHR to identify data elements required to calculate measures (e.g., medications, labs) for patients of interest</a:t>
              </a:r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427FBE53-C3A5-B91B-3679-ACCBCFA7492D}"/>
                </a:ext>
              </a:extLst>
            </p:cNvPr>
            <p:cNvSpPr/>
            <p:nvPr/>
          </p:nvSpPr>
          <p:spPr>
            <a:xfrm>
              <a:off x="7876409" y="3008708"/>
              <a:ext cx="1339033" cy="1476920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Data further validated and analyzed</a:t>
              </a:r>
            </a:p>
          </p:txBody>
        </p:sp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6144A191-99F8-539F-FEF0-13D26D376D28}"/>
                </a:ext>
              </a:extLst>
            </p:cNvPr>
            <p:cNvSpPr/>
            <p:nvPr/>
          </p:nvSpPr>
          <p:spPr>
            <a:xfrm>
              <a:off x="9132775" y="2369946"/>
              <a:ext cx="3260641" cy="1146809"/>
            </a:xfrm>
            <a:prstGeom prst="flowChartAlternateProcess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F56DC"/>
                </a:solidFill>
                <a:effectLst/>
                <a:uLnTx/>
                <a:uFillTx/>
                <a:latin typeface="Myriad Web Pro"/>
                <a:ea typeface="+mn-ea"/>
                <a:cs typeface="Calibri" panose="020F0502020204030204" pitchFamily="34" charset="0"/>
              </a:endParaRPr>
            </a:p>
            <a:p>
              <a:pPr marL="0" marR="0" lvl="0" indent="0" algn="ctr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NHSN application runs algorithms to determine if patient meets measure denominator and numerator criteria. Analytics performed and measure reports available for NHSN users.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68D473-A345-F9F9-7855-FAF392410AD7}"/>
                </a:ext>
              </a:extLst>
            </p:cNvPr>
            <p:cNvSpPr txBox="1"/>
            <p:nvPr/>
          </p:nvSpPr>
          <p:spPr>
            <a:xfrm>
              <a:off x="1137982" y="1451547"/>
              <a:ext cx="10979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21917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F56DC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Facility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F23DCE2-F477-21F9-B070-836EDA4A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26" r="23325"/>
            <a:stretch/>
          </p:blipFill>
          <p:spPr>
            <a:xfrm>
              <a:off x="82627" y="2112192"/>
              <a:ext cx="1538785" cy="1397611"/>
            </a:xfrm>
            <a:prstGeom prst="rect">
              <a:avLst/>
            </a:prstGeom>
          </p:spPr>
        </p:pic>
        <p:pic>
          <p:nvPicPr>
            <p:cNvPr id="18" name="Picture 17" descr="NHSN logo">
              <a:extLst>
                <a:ext uri="{FF2B5EF4-FFF2-40B4-BE49-F238E27FC236}">
                  <a16:creationId xmlns:a16="http://schemas.microsoft.com/office/drawing/2014/main" id="{E8886885-025C-CECB-E0C4-E21C8C1B2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0618" y="1399105"/>
              <a:ext cx="1386674" cy="544398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E718E1AA-57DB-0D13-0BD3-AE57721E71E2}"/>
              </a:ext>
            </a:extLst>
          </p:cNvPr>
          <p:cNvSpPr/>
          <p:nvPr/>
        </p:nvSpPr>
        <p:spPr>
          <a:xfrm>
            <a:off x="3113893" y="3831909"/>
            <a:ext cx="1661128" cy="1527330"/>
          </a:xfrm>
          <a:prstGeom prst="flowChartAlternate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marL="0" marR="0" lvl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NHSN connects securely to facility via FHIR API</a:t>
            </a:r>
          </a:p>
        </p:txBody>
      </p:sp>
      <p:sp>
        <p:nvSpPr>
          <p:cNvPr id="20" name="Arrow: Left-Right 19" descr="Double-headed arrow pointing back and forth between Facility and NHSNLink">
            <a:extLst>
              <a:ext uri="{FF2B5EF4-FFF2-40B4-BE49-F238E27FC236}">
                <a16:creationId xmlns:a16="http://schemas.microsoft.com/office/drawing/2014/main" id="{E892FD12-1136-4E52-5518-301A4D3A52F6}"/>
              </a:ext>
            </a:extLst>
          </p:cNvPr>
          <p:cNvSpPr/>
          <p:nvPr/>
        </p:nvSpPr>
        <p:spPr>
          <a:xfrm>
            <a:off x="3345457" y="3311384"/>
            <a:ext cx="1186680" cy="584467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Web Pro"/>
              <a:ea typeface="+mn-ea"/>
              <a:cs typeface="+mn-cs"/>
            </a:endParaRPr>
          </a:p>
        </p:txBody>
      </p:sp>
      <p:sp>
        <p:nvSpPr>
          <p:cNvPr id="21" name="Arrow: Right 20" descr="Arrow pointing right, from NHSNLink to NHSN">
            <a:extLst>
              <a:ext uri="{FF2B5EF4-FFF2-40B4-BE49-F238E27FC236}">
                <a16:creationId xmlns:a16="http://schemas.microsoft.com/office/drawing/2014/main" id="{B4733B07-D14A-F898-9F04-37A4C078A33E}"/>
              </a:ext>
            </a:extLst>
          </p:cNvPr>
          <p:cNvSpPr/>
          <p:nvPr/>
        </p:nvSpPr>
        <p:spPr>
          <a:xfrm>
            <a:off x="7900117" y="3215473"/>
            <a:ext cx="978408" cy="58054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Web Pro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5D45F2-DE07-246C-0D67-71989F1E79E8}"/>
              </a:ext>
            </a:extLst>
          </p:cNvPr>
          <p:cNvSpPr/>
          <p:nvPr/>
        </p:nvSpPr>
        <p:spPr>
          <a:xfrm>
            <a:off x="209399" y="6089244"/>
            <a:ext cx="3729398" cy="578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*Patients in emergency department, observation, or inpatient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 measurement period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F56D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F7F7F">
                  <a:lumMod val="50000"/>
                </a:srgbClr>
              </a:solidFill>
              <a:effectLst/>
              <a:uLnTx/>
              <a:uFillTx/>
              <a:latin typeface="Myriad Web Pro"/>
              <a:ea typeface="+mn-ea"/>
              <a:cs typeface="+mn-cs"/>
            </a:endParaRPr>
          </a:p>
        </p:txBody>
      </p:sp>
      <p:pic>
        <p:nvPicPr>
          <p:cNvPr id="23" name="Picture 22" descr="NHSNLink logo">
            <a:extLst>
              <a:ext uri="{FF2B5EF4-FFF2-40B4-BE49-F238E27FC236}">
                <a16:creationId xmlns:a16="http://schemas.microsoft.com/office/drawing/2014/main" id="{F7267AA3-8C0D-CD72-C38A-CFED70D5B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364" y="2153021"/>
            <a:ext cx="1332768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5555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6248AB-92C4-421F-8747-17C94E0A4F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1348708"/>
            <a:ext cx="3989808" cy="4844927"/>
          </a:xfr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Confirm facility enrollment in digital measure reporting plan; request and receive NHSN FHIR dQM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lang="en-US" sz="1800" b="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Request and receive Patients of Interest and query data defined by dQM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Evaluate and filter data as defined by dQM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Submit </a:t>
            </a:r>
            <a:r>
              <a:rPr lang="en-US" sz="1800" b="0" dirty="0" err="1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MeasureReport</a:t>
            </a:r>
            <a:r>
              <a:rPr lang="en-US" sz="1800" b="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bundle for patients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meeting dQM definition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6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NHSN ingests and analyzes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MeasureReport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bundles and makes </a:t>
            </a:r>
            <a:r>
              <a:rPr lang="en-US" sz="1800" b="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reports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available via secure NHSN user interface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E12BD1-2A1D-96AB-A3C2-B07556E8BAA6}"/>
              </a:ext>
            </a:extLst>
          </p:cNvPr>
          <p:cNvSpPr txBox="1"/>
          <p:nvPr/>
        </p:nvSpPr>
        <p:spPr>
          <a:xfrm>
            <a:off x="533848" y="5977121"/>
            <a:ext cx="5031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API: Application Programing Interface; CDC, Centers for Disease Control and Prevention; dQM: digital quality measure;  EHR: Electronic health record; FHIR: Fast Healthcare Interoperability Resources;  NHSN: National Healthcare Safety Network</a:t>
            </a:r>
            <a:r>
              <a:rPr lang="en-US" sz="11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SAMS: Secure Access Management Services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249F20C-65E2-46D8-65A6-88D87BD36A16}"/>
              </a:ext>
            </a:extLst>
          </p:cNvPr>
          <p:cNvSpPr/>
          <p:nvPr/>
        </p:nvSpPr>
        <p:spPr>
          <a:xfrm>
            <a:off x="5562581" y="3727451"/>
            <a:ext cx="275421" cy="20932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phic 3" descr="Lock with solid fill">
            <a:extLst>
              <a:ext uri="{FF2B5EF4-FFF2-40B4-BE49-F238E27FC236}">
                <a16:creationId xmlns:a16="http://schemas.microsoft.com/office/drawing/2014/main" id="{314E17C5-6C74-EBE1-5CB6-48BBC85BC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9835" y="5519386"/>
            <a:ext cx="401140" cy="401140"/>
          </a:xfrm>
          <a:prstGeom prst="rect">
            <a:avLst/>
          </a:prstGeom>
        </p:spPr>
      </p:pic>
      <p:pic>
        <p:nvPicPr>
          <p:cNvPr id="6" name="Picture 5" descr="Diagram of interactions between NHSN and facility environment. A shape labelled &quot;CDC Secure Environment&quot; encompasses another shape labelled &quot;SAMS OAuth,&quot; and both those shapes encompass another labelled &quot;National Healthcare Safety Network.&quot; The NHSN shape is divided into two parts, labelled &quot;NHSNLink&quot; and NHSN Application.&quot; In the NHSNLink half are shapes labelled &quot;NHSNLink API,&quot; &quot;FHIR Query and dQM Evaluation,&quot; and &quot;Bundle &amp; Submit.&quot; In the NHSN Application half are shapes labelled &quot;Facility Digital Measure Reporting Plan Enrollment and FHIR dQM Selection*&quot; and &quot;CDC Cloud,&quot; which encompasses two shaped labelled &quot;NHSN Analysis Datasets&quot; and &quot;NHSN Secure User Interface.&quot;&#10;Outside the CDC Secure Environment is a shape labelled &quot;Facility Environment,&quot; which encompasses two shapes labelled &quot;Authentication&quot; and &quot;EHR FHIR Server.&quot;&#10;A double-headed arrow numbered 1 points back and forth between NHSNLink API and Facility Digital Measure Reporting Plan. A double-headed arrow numbered two points back and forth between Facility Environment and FHIR Query and dQM Evaluation. An arrow numbered 3 points from FHIR Query and dQM Evaluation to Bundle &amp; Submit. An arrow numbered 4 points from Bundle &amp; Submit to NHSN Analysis Datasets. An arrow numbered 5 points from NHSN Analysis Datasets to NHSN Secure User Interface.">
            <a:extLst>
              <a:ext uri="{FF2B5EF4-FFF2-40B4-BE49-F238E27FC236}">
                <a16:creationId xmlns:a16="http://schemas.microsoft.com/office/drawing/2014/main" id="{974281A3-8934-A0D6-4259-F883989384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044" y="845961"/>
            <a:ext cx="7753956" cy="51311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F037D6-CD8A-DD08-4790-50E3087A4FE5}"/>
              </a:ext>
            </a:extLst>
          </p:cNvPr>
          <p:cNvSpPr txBox="1"/>
          <p:nvPr/>
        </p:nvSpPr>
        <p:spPr>
          <a:xfrm>
            <a:off x="4438044" y="4023585"/>
            <a:ext cx="27737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*Signals facility readiness to report digital quality measure and that facility has signed NHSN data-use agreements for secure data-sharing, including “NHSN Agreement to Participate and Consent” and “NHSN Facility/Group User &amp; Administrator Rules of Behavior.”</a:t>
            </a: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330230C4-3F88-7C1D-6E29-4BCBC1F6A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770054"/>
          </a:xfrm>
        </p:spPr>
        <p:txBody>
          <a:bodyPr lIns="91440" tIns="45720" rIns="91440" bIns="45720" anchor="b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>
              <a:lnSpc>
                <a:spcPct val="92592"/>
              </a:lnSpc>
            </a:pPr>
            <a:r>
              <a:rPr lang="en-US" sz="3600" dirty="0">
                <a:solidFill>
                  <a:srgbClr val="1E5AA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NHSNLink: How It Works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8532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NCEH_ATSDR_combined">
  <a:themeElements>
    <a:clrScheme name="Custom 1">
      <a:dk1>
        <a:srgbClr val="0F56DC"/>
      </a:dk1>
      <a:lt1>
        <a:srgbClr val="FFFFFF"/>
      </a:lt1>
      <a:dk2>
        <a:srgbClr val="0B7D58"/>
      </a:dk2>
      <a:lt2>
        <a:srgbClr val="FFFFFF"/>
      </a:lt2>
      <a:accent1>
        <a:srgbClr val="7F8080"/>
      </a:accent1>
      <a:accent2>
        <a:srgbClr val="546DB4"/>
      </a:accent2>
      <a:accent3>
        <a:srgbClr val="9A3B25"/>
      </a:accent3>
      <a:accent4>
        <a:srgbClr val="7F7F7F"/>
      </a:accent4>
      <a:accent5>
        <a:srgbClr val="0033A1"/>
      </a:accent5>
      <a:accent6>
        <a:srgbClr val="002060"/>
      </a:accent6>
      <a:hlink>
        <a:srgbClr val="0F56DC"/>
      </a:hlink>
      <a:folHlink>
        <a:srgbClr val="3077FF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0000"/>
            </a:solidFill>
            <a:latin typeface="Calibri" panose="020F050202020403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265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Myriad Web Pro</vt:lpstr>
      <vt:lpstr>NCEH_ATSDR_combined</vt:lpstr>
      <vt:lpstr>NHSN FHIR dQMs: Process Flow from EHR to NHSN</vt:lpstr>
      <vt:lpstr>NHSNLink: How It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Nusstein</dc:creator>
  <cp:lastModifiedBy>Aaron Nusstein</cp:lastModifiedBy>
  <cp:revision>1</cp:revision>
  <dcterms:created xsi:type="dcterms:W3CDTF">2025-09-02T17:38:18Z</dcterms:created>
  <dcterms:modified xsi:type="dcterms:W3CDTF">2025-09-02T17:39:24Z</dcterms:modified>
</cp:coreProperties>
</file>